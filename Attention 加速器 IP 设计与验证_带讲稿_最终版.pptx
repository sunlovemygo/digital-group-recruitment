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67" r:id="rId7"/>
    <p:sldId id="269" r:id="rId8"/>
    <p:sldId id="271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70" r:id="rId17"/>
    <p:sldId id="265" r:id="rId18"/>
    <p:sldId id="26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r>
              <a:rPr lang="en-US"/>
              <a:t>各位老师好，今天答辩的题目是《Attention 加速器 IP 设计与验证》。这是一个单头注意力机制的硬件实现，规模为 S=8、d=4，数据采用 8-bit 有符号定点。核心工作是用 Verilog 设计可综合的 RTL，完成从 Q/K/V 输入到 Attention 输出的全链路。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r>
              <a:rPr lang="en-US"/>
              <a:t>注意力机制分三步：Q 与 K 点积打分；softmax 把分数归一化成权重；用权重对 V 加权求和得到输出。硬件加速原因：token 数增大时计算量快速上升，exp 和除法在通用处理器上指令开销大；用硬件并行计算加定点查表，可显著降低延迟。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这一页是我整个学习路线的总览，后面会按这六个阶段逐页展开。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先理解注意力机制，再刷 Verilog，然后动手做项目；中间我遇到了一个印象最深的节拍错误，就是图里标金色的第四个节点；之后借助 AI 改错，最后才真正吃透代码，现在还在学附加内容。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大家可以先记住这条主线，听的时候就知道我们走到哪一步了。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理解了 Attention 之后，我发现自己还不会用 Verilog 写硬件，于是去补基础。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我主要在 HDLBits 上在线刷小题，一道题就是一个小电路，写错会立刻给反馈；遇到不懂的语法和报错，就去 CSDN 搜讲解。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我从模块端口、wire 和 reg、位宽开始，一路学到组合逻辑、时序逻辑、计数器，最后能写有限状态机。这一步让我从"能看懂代码"走到"能自己写"。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卡住之后，我开始借助 AI 来改错。它主要帮我做了三件事：带我读波形、看 state 沿时钟怎么跳，找出哪一拍不对；讲清楚非阻塞赋值的更新时机；最后把点积改成并行。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真正的修法是去掉中转寄存器，把四路乘积和直接写进 score_buf，一拍完成，不再有读到旧值的问题。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但我想强调的是，我把 AI 当老师而不是答案机——它负责帮我定位和解释，我自己理解之后才动手改。这样才从"改对"走到了"懂"。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r>
              <a:rPr lang="en-US"/>
              <a:t>算法三步：点积打分；归一化时先求 xmax，再算 exp(score−xmax)，防止指数爆炸；用 weight 对 V 加权求和。4.4 定点：weight=16 代表 1.0，L 和 ACC 也按同样尺度放大，最后相除时缩放抵消。</a:t>
            </a: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占位符 13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r>
              <a:rPr lang="en-US"/>
              <a:t>手算示例：输入 q=[1,2,−1,0]，点积得到 score=[1,2,3,−1,0,1,0,2]，最大值 xmax=3。u=xmax−score，查 LUT 得 weight=[2,6,16,0,1,2,1,6]，L=34，ACC=[87,77,33,63]，最终 O=round(ACC/L)=[3,2,1,2]。</a:t>
            </a: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占位符 15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r>
              <a:rPr lang="en-US"/>
              <a:t>硬件架构总览：左边是 Q Reg[4]、K Buffer[32]、V Buffer[32]；中间是计算引擎 DOT/MAX/EXP/UPDATE/NORM/OUTPUT；右边输出 O、out_valid、done。控制由 10 状态 FSM 实现，data_ready 用于反压。K/V 索引用 {tok_cnt,dim_cnt} 展平。</a:t>
            </a:r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7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r>
              <a:rPr lang="en-US"/>
              <a:t>状态机共 10 个状态，分三阶段：装载阶段 IDLE→LOAD_Q→LOAD_KV；计算阶段 DOT→MAX→EXP→UPDATE→NEXT（NEXT 循环 8 次）；输出阶段 NORM→OUTPUT。DOT 里 dim_cnt=0 时赋值而非累加，避免跨 token 残留。</a:t>
            </a: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9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r>
              <a:rPr lang="en-US"/>
              <a:t>位宽推导：score 是 4 项乘积求和，最大 4×127×127=64516，用 18-bit 有符号；weight 最大 16，用 16-bit 4.4 定点；L 最大 128，16-bit 够；ACC 最大 8×16×127=16256，用 20-bit 4.4 定点；O 最后回到 8-bit 有符号。</a:t>
            </a:r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r>
              <a:rPr lang="en-US"/>
              <a:t>验证分三层：冒烟测试用固定激励核对 score/weight/L/ACC/O；随机测试用 Python golden_model 生成输入与 RTL 输出对比；波形检查用 GTKWave 看 state、out_valid、done、data_ready 的时序。</a:t>
            </a:r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r>
              <a:rPr lang="en-US"/>
              <a:t>仿真结果：sim.bat 两次任务 done 均在 cycle 39 拉高，O=[3,2,1,2]，与手算一致；sim_random.bat 100 组随机测试全部通过。现场演示先跑 sim.bat，再跑 random，必要时可现场换输入。</a:t>
            </a:r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学习到这里并没有结束。我现在还在看加分项，比如更精确的分段线性 LUT、让模型只看前面的因果 Mask，以及让规模可配置的参数化。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整个过程我有三点收获：一是硬件思维，理解了时钟、寄存器和非阻塞的节拍；二是定点思维，懂得位宽、精度和面积要取舍；三是学习方法，我认为能讲清楚，才算真懂。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最后谢谢大家，欢迎指正。我现在也可以现场打开代码，逐段讲给大家看。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r>
              <a:rPr lang="en-US"/>
              <a:t>总结：已完成数值稳定的 softmax、10 状态 FSM+握手反压、冒烟与随机测试全部通过。展望可进一步合并 EXP/UPDATE 缩短周期、用 PWL 替代 LUT 提高精度、加入因果 Mask 或稀疏筛选、把 S 参数化以支持更大规模。</a:t>
            </a:r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r>
              <a:rPr lang="en-US"/>
              <a:t>除了基础功能，我还做了几项加分项。周期优化把 EXP 和 UPDATE 合并，减少 8 个周期；PWL 用 16 段线性插值替代基础 LUT，提高指数近似精度；Online Softmax 把两遍扫描合并成一遍，省掉 S_MAX 状态，参考了 NVIDIA 2018 年的论文。另外还实现了因果 Mask、参数化 S 和稀疏筛选，分别对应自回归、可扩展性和稀疏 Attention 的需求。每个加分项都有独立的 RTL 和 testbench，可以现场跑通。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5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7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3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4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60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1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3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6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AutoShape 2"/>
          <p:cNvSpPr/>
          <p:nvPr/>
        </p:nvSpPr>
        <p:spPr>
          <a:xfrm>
            <a:off x="1143000" y="1879600"/>
            <a:ext cx="50800" cy="2032000"/>
          </a:xfrm>
          <a:prstGeom prst="roundRect">
            <a:avLst>
              <a:gd name="adj" fmla="val 0"/>
            </a:avLst>
          </a:prstGeom>
          <a:solidFill>
            <a:srgbClr val="1F3A5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AutoShape 3"/>
          <p:cNvSpPr txBox="1"/>
          <p:nvPr/>
        </p:nvSpPr>
        <p:spPr>
          <a:xfrm>
            <a:off x="1422400" y="1854200"/>
            <a:ext cx="9906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Attention 加速器 IP 设计与验证</a:t>
            </a:r>
            <a:endParaRPr lang="en-US" sz="1100"/>
          </a:p>
        </p:txBody>
      </p:sp>
      <p:sp>
        <p:nvSpPr>
          <p:cNvPr id="46" name="AutoShape 4"/>
          <p:cNvSpPr txBox="1"/>
          <p:nvPr/>
        </p:nvSpPr>
        <p:spPr>
          <a:xfrm>
            <a:off x="1422400" y="2870200"/>
            <a:ext cx="990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B647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单头注意力机制的硬件实现 · S = 8，d = 4，8-bit 有符号定点</a:t>
            </a:r>
            <a:endParaRPr lang="en-US" sz="1100"/>
          </a:p>
        </p:txBody>
      </p:sp>
      <p:cxnSp>
        <p:nvCxnSpPr>
          <p:cNvPr id="47" name="Connector 5"/>
          <p:cNvCxnSpPr/>
          <p:nvPr/>
        </p:nvCxnSpPr>
        <p:spPr>
          <a:xfrm rot="-9602">
            <a:off x="1422409" y="3651250"/>
            <a:ext cx="454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3A5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" name="AutoShape 6"/>
          <p:cNvSpPr txBox="1"/>
          <p:nvPr/>
        </p:nvSpPr>
        <p:spPr>
          <a:xfrm>
            <a:off x="1422400" y="4038600"/>
            <a:ext cx="914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endParaRPr lang="en-US" sz="1400" b="0" i="0" u="none" strike="noStrike">
              <a:solidFill>
                <a:srgbClr val="5B647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AutoShape 2"/>
          <p:cNvSpPr txBox="1"/>
          <p:nvPr/>
        </p:nvSpPr>
        <p:spPr>
          <a:xfrm>
            <a:off x="762000" y="4318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AA1A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· BACKGROUND AND PROBLEM</a:t>
            </a:r>
            <a:endParaRPr lang="en-US" sz="1100"/>
          </a:p>
        </p:txBody>
      </p:sp>
      <p:sp>
        <p:nvSpPr>
          <p:cNvPr id="51" name="AutoShape 3"/>
          <p:cNvSpPr txBox="1"/>
          <p:nvPr/>
        </p:nvSpPr>
        <p:spPr>
          <a:xfrm>
            <a:off x="762000" y="762000"/>
            <a:ext cx="889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背景与问题</a:t>
            </a:r>
            <a:endParaRPr lang="en-US" sz="1100"/>
          </a:p>
        </p:txBody>
      </p:sp>
      <p:cxnSp>
        <p:nvCxnSpPr>
          <p:cNvPr id="52" name="Connector 4"/>
          <p:cNvCxnSpPr/>
          <p:nvPr/>
        </p:nvCxnSpPr>
        <p:spPr>
          <a:xfrm rot="-4092">
            <a:off x="762004" y="1466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3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" name="AutoShape 5"/>
          <p:cNvSpPr txBox="1"/>
          <p:nvPr/>
        </p:nvSpPr>
        <p:spPr>
          <a:xfrm>
            <a:off x="762000" y="17018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注意力机制做什么</a:t>
            </a:r>
            <a:endParaRPr lang="en-US" sz="1100"/>
          </a:p>
        </p:txBody>
      </p:sp>
      <p:sp>
        <p:nvSpPr>
          <p:cNvPr id="54" name="AutoShape 6"/>
          <p:cNvSpPr txBox="1"/>
          <p:nvPr/>
        </p:nvSpPr>
        <p:spPr>
          <a:xfrm>
            <a:off x="762000" y="2133600"/>
            <a:ext cx="508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50" b="0" i="0" u="none" strike="noStrike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打分：Q 与每个 K 做点积，衡量相关性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350" b="0" i="0" u="none" strike="noStrike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归一化：softmax 把分数转成和为 1 的权重</a:t>
            </a:r>
            <a:endParaRPr lang="en-US" sz="1350" b="0" i="0" u="none" strike="noStrike">
              <a:solidFill>
                <a:srgbClr val="373E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50" b="0" i="0" u="none" strike="noStrike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加权：用权重对 V 加权求和，得到输出</a:t>
            </a:r>
            <a:endParaRPr lang="en-US" sz="1350" b="0" i="0" u="none" strike="noStrike">
              <a:solidFill>
                <a:srgbClr val="373E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55" name="Connector 7"/>
          <p:cNvCxnSpPr/>
          <p:nvPr/>
        </p:nvCxnSpPr>
        <p:spPr>
          <a:xfrm rot="5389768">
            <a:off x="4089400" y="3829059"/>
            <a:ext cx="426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3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" name="AutoShape 8"/>
          <p:cNvSpPr txBox="1"/>
          <p:nvPr/>
        </p:nvSpPr>
        <p:spPr>
          <a:xfrm>
            <a:off x="6477000" y="17018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为什么要做硬件加速</a:t>
            </a:r>
            <a:endParaRPr lang="en-US" sz="1100"/>
          </a:p>
        </p:txBody>
      </p:sp>
      <p:sp>
        <p:nvSpPr>
          <p:cNvPr id="57" name="AutoShape 9"/>
          <p:cNvSpPr txBox="1"/>
          <p:nvPr/>
        </p:nvSpPr>
        <p:spPr>
          <a:xfrm>
            <a:off x="6477000" y="2133600"/>
            <a:ext cx="5080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50" b="0" i="0" u="none" strike="noStrike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token 数增大，点积与 softmax 计算量快速上升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350" b="0" i="0" u="none" strike="noStrike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exp、除法在通用处理器上指令开销大</a:t>
            </a:r>
            <a:endParaRPr lang="en-US" sz="1350" b="0" i="0" u="none" strike="noStrike">
              <a:solidFill>
                <a:srgbClr val="373E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50" b="0" i="0" u="none" strike="noStrike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硬件并行计算 + 定点查表，可显著降低延迟</a:t>
            </a:r>
            <a:endParaRPr lang="en-US" sz="1350" b="0" i="0" u="none" strike="noStrike">
              <a:solidFill>
                <a:srgbClr val="373E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8" name="AutoShape 10"/>
          <p:cNvSpPr txBox="1"/>
          <p:nvPr/>
        </p:nvSpPr>
        <p:spPr>
          <a:xfrm>
            <a:off x="6477000" y="41910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本设计规模</a:t>
            </a:r>
            <a:endParaRPr lang="en-US" sz="1100"/>
          </a:p>
        </p:txBody>
      </p:sp>
      <p:sp>
        <p:nvSpPr>
          <p:cNvPr id="59" name="AutoShape 11"/>
          <p:cNvSpPr txBox="1"/>
          <p:nvPr/>
        </p:nvSpPr>
        <p:spPr>
          <a:xfrm>
            <a:off x="6477000" y="4597400"/>
            <a:ext cx="508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50" b="0" i="0" u="none" strike="noStrike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 = 8 个 token，d = 4 维，8-bit 有符号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350" b="0" i="0" u="none" strike="noStrike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实现完整 attention 通路并自写 testbench 验证</a:t>
            </a:r>
            <a:endParaRPr lang="en-US" sz="1350" b="0" i="0" u="none" strike="noStrike">
              <a:solidFill>
                <a:srgbClr val="373E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60" name="Connector 12"/>
          <p:cNvCxnSpPr/>
          <p:nvPr/>
        </p:nvCxnSpPr>
        <p:spPr>
          <a:xfrm rot="-4092">
            <a:off x="762004" y="6267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3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" name="AutoShape 13"/>
          <p:cNvSpPr txBox="1"/>
          <p:nvPr/>
        </p:nvSpPr>
        <p:spPr>
          <a:xfrm>
            <a:off x="762000" y="63754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AA1A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Attention 加速器 IP</a:t>
            </a:r>
            <a:endParaRPr lang="en-US" sz="1100"/>
          </a:p>
        </p:txBody>
      </p:sp>
      <p:sp>
        <p:nvSpPr>
          <p:cNvPr id="62" name="AutoShape 14"/>
          <p:cNvSpPr txBox="1"/>
          <p:nvPr/>
        </p:nvSpPr>
        <p:spPr>
          <a:xfrm>
            <a:off x="10922000" y="6375400"/>
            <a:ext cx="50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AA1A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524000" y="711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498600" y="1016000"/>
            <a:ext cx="914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我的学习路线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774">
            <a:off x="1524004" y="1746250"/>
            <a:ext cx="914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524000" y="1879600"/>
            <a:ext cx="914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B87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六个阶段，后面逐页展开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5055">
            <a:off x="1778005" y="3676650"/>
            <a:ext cx="863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F3A5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 txBox="1"/>
          <p:nvPr/>
        </p:nvSpPr>
        <p:spPr>
          <a:xfrm>
            <a:off x="1524000" y="2540000"/>
            <a:ext cx="152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892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524000" y="2819400"/>
            <a:ext cx="152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41C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理解注意力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184400" y="3581400"/>
            <a:ext cx="203200" cy="203200"/>
          </a:xfrm>
          <a:prstGeom prst="ellipse">
            <a:avLst/>
          </a:prstGeom>
          <a:solidFill>
            <a:srgbClr val="1F3A5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 txBox="1"/>
          <p:nvPr/>
        </p:nvSpPr>
        <p:spPr>
          <a:xfrm>
            <a:off x="3048000" y="4038600"/>
            <a:ext cx="152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892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3048000" y="4318000"/>
            <a:ext cx="152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41C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刷 Verilog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708400" y="3581400"/>
            <a:ext cx="203200" cy="203200"/>
          </a:xfrm>
          <a:prstGeom prst="ellipse">
            <a:avLst/>
          </a:prstGeom>
          <a:solidFill>
            <a:srgbClr val="1F3A5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4572000" y="2540000"/>
            <a:ext cx="152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892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4572000" y="2819400"/>
            <a:ext cx="152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41C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动手做项目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232400" y="3581400"/>
            <a:ext cx="203200" cy="203200"/>
          </a:xfrm>
          <a:prstGeom prst="ellipse">
            <a:avLst/>
          </a:prstGeom>
          <a:solidFill>
            <a:srgbClr val="1F3A5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 txBox="1"/>
          <p:nvPr/>
        </p:nvSpPr>
        <p:spPr>
          <a:xfrm>
            <a:off x="6096000" y="4038600"/>
            <a:ext cx="152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892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6096000" y="4318000"/>
            <a:ext cx="152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6641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节拍错误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731000" y="3556000"/>
            <a:ext cx="254000" cy="254000"/>
          </a:xfrm>
          <a:prstGeom prst="ellipse">
            <a:avLst/>
          </a:prstGeom>
          <a:solidFill>
            <a:srgbClr val="B8924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 txBox="1"/>
          <p:nvPr/>
        </p:nvSpPr>
        <p:spPr>
          <a:xfrm>
            <a:off x="7620000" y="2540000"/>
            <a:ext cx="152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892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7620000" y="2819400"/>
            <a:ext cx="152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41C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借助 AI 改错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280400" y="3581400"/>
            <a:ext cx="203200" cy="203200"/>
          </a:xfrm>
          <a:prstGeom prst="ellipse">
            <a:avLst/>
          </a:prstGeom>
          <a:solidFill>
            <a:srgbClr val="1F3A5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 txBox="1"/>
          <p:nvPr/>
        </p:nvSpPr>
        <p:spPr>
          <a:xfrm>
            <a:off x="9144000" y="4038600"/>
            <a:ext cx="152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892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9144000" y="4318000"/>
            <a:ext cx="152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41C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附加内容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804400" y="3581400"/>
            <a:ext cx="203200" cy="203200"/>
          </a:xfrm>
          <a:prstGeom prst="ellipse">
            <a:avLst/>
          </a:prstGeom>
          <a:solidFill>
            <a:srgbClr val="1F3A5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 txBox="1"/>
          <p:nvPr/>
        </p:nvSpPr>
        <p:spPr>
          <a:xfrm>
            <a:off x="1524000" y="5257800"/>
            <a:ext cx="914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4774">
            <a:off x="1524004" y="6292850"/>
            <a:ext cx="914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 txBox="1"/>
          <p:nvPr/>
        </p:nvSpPr>
        <p:spPr>
          <a:xfrm>
            <a:off x="1524000" y="64008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B87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Attention 加速器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8890000" y="6400800"/>
            <a:ext cx="177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B87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10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 txBox="1"/>
          <p:nvPr/>
        </p:nvSpPr>
        <p:spPr>
          <a:xfrm>
            <a:off x="1498600" y="1016000"/>
            <a:ext cx="914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补 Verilog 基础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774">
            <a:off x="1524004" y="1746250"/>
            <a:ext cx="914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524000" y="19812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B892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语法阶梯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83472">
            <a:off x="431800" y="3854465"/>
            <a:ext cx="264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676400" y="2463800"/>
            <a:ext cx="152400" cy="152400"/>
          </a:xfrm>
          <a:prstGeom prst="ellipse">
            <a:avLst/>
          </a:prstGeom>
          <a:solidFill>
            <a:srgbClr val="1F3A5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/>
        </p:nvSpPr>
        <p:spPr>
          <a:xfrm>
            <a:off x="2006600" y="24130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41C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模块与端口、wire / reg、位宽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676400" y="3073400"/>
            <a:ext cx="152400" cy="152400"/>
          </a:xfrm>
          <a:prstGeom prst="ellipse">
            <a:avLst/>
          </a:prstGeom>
          <a:solidFill>
            <a:srgbClr val="1F3A5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 txBox="1"/>
          <p:nvPr/>
        </p:nvSpPr>
        <p:spPr>
          <a:xfrm>
            <a:off x="2006600" y="30226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41C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组合逻辑：assign、always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676400" y="3683000"/>
            <a:ext cx="152400" cy="152400"/>
          </a:xfrm>
          <a:prstGeom prst="ellipse">
            <a:avLst/>
          </a:prstGeom>
          <a:solidFill>
            <a:srgbClr val="1F3A5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 txBox="1"/>
          <p:nvPr/>
        </p:nvSpPr>
        <p:spPr>
          <a:xfrm>
            <a:off x="2006600" y="36322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41C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时序逻辑：时钟沿、复位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676400" y="4292600"/>
            <a:ext cx="152400" cy="152400"/>
          </a:xfrm>
          <a:prstGeom prst="ellipse">
            <a:avLst/>
          </a:prstGeom>
          <a:solidFill>
            <a:srgbClr val="1F3A5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/>
        </p:nvSpPr>
        <p:spPr>
          <a:xfrm>
            <a:off x="2006600" y="42418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41C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计数器、case 分支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676400" y="4902200"/>
            <a:ext cx="152400" cy="152400"/>
          </a:xfrm>
          <a:prstGeom prst="ellipse">
            <a:avLst/>
          </a:prstGeom>
          <a:solidFill>
            <a:srgbClr val="1F3A5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 txBox="1"/>
          <p:nvPr/>
        </p:nvSpPr>
        <p:spPr>
          <a:xfrm>
            <a:off x="2006600" y="48514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41C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有限状态机 FSM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7366000" y="19812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B892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两个渠道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7366000" y="2413000"/>
            <a:ext cx="330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HDLBits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7366000" y="2768600"/>
            <a:ext cx="330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A64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在线刷 Verilog 小题，一题一个电路，写错立刻反馈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7366000" y="3429000"/>
            <a:ext cx="330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CSDN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7366000" y="3784600"/>
            <a:ext cx="330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A64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搜语法、看讲解，照着排查报错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366000" y="4470400"/>
            <a:ext cx="3302000" cy="787400"/>
          </a:xfrm>
          <a:prstGeom prst="roundRect">
            <a:avLst>
              <a:gd name="adj" fmla="val 0"/>
            </a:avLst>
          </a:prstGeom>
          <a:solidFill>
            <a:srgbClr val="F5EEDF">
              <a:alpha val="100000"/>
            </a:srgbClr>
          </a:solidFill>
          <a:ln w="12700" cap="flat" cmpd="sng">
            <a:solidFill>
              <a:srgbClr val="F5EED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366000" y="4470400"/>
            <a:ext cx="50800" cy="787400"/>
          </a:xfrm>
          <a:prstGeom prst="roundRect">
            <a:avLst>
              <a:gd name="adj" fmla="val 0"/>
            </a:avLst>
          </a:prstGeom>
          <a:solidFill>
            <a:srgbClr val="B8924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 txBox="1"/>
          <p:nvPr/>
        </p:nvSpPr>
        <p:spPr>
          <a:xfrm>
            <a:off x="7569200" y="4597400"/>
            <a:ext cx="29464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200" b="0" i="0" u="none" strike="noStrike">
                <a:solidFill>
                  <a:srgbClr val="3C34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最容易混：阻塞 = 和非阻塞 &lt;=；时序逻辑里要用 &lt;=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1524000" y="5486400"/>
            <a:ext cx="546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从“能看懂”到“能自己写”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4774">
            <a:off x="1524004" y="6292850"/>
            <a:ext cx="914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 txBox="1"/>
          <p:nvPr/>
        </p:nvSpPr>
        <p:spPr>
          <a:xfrm>
            <a:off x="1524000" y="64008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B87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Attention 加速器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8890000" y="6400800"/>
            <a:ext cx="177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B87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/ 10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524000" y="7112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892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07 · 阶段五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498600" y="1016000"/>
            <a:ext cx="914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借助 AI 改错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774">
            <a:off x="1524004" y="1746250"/>
            <a:ext cx="914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524000" y="1879600"/>
            <a:ext cx="914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B87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从“让 AI 改对”，到“我自己弄懂”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524000" y="23114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B892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帮我做了什么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524000" y="27432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892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2006600" y="2717800"/>
            <a:ext cx="431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41C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读波形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2006600" y="2997200"/>
            <a:ext cx="431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7B87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看 state 沿时钟怎么跳，找出哪一拍不对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524000" y="35052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892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2006600" y="3479800"/>
            <a:ext cx="431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41C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讲原理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2006600" y="3759200"/>
            <a:ext cx="431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7B87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非阻塞拍内先算、拍末才统一更新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524000" y="42672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892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2006600" y="4241800"/>
            <a:ext cx="431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41C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改并行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2006600" y="4521200"/>
            <a:ext cx="431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7B87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点积展开四路乘法，一拍直接出结果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6604000" y="23114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B892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修法：去掉中转寄存器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04000" y="2692400"/>
            <a:ext cx="4064000" cy="1905000"/>
          </a:xfrm>
          <a:prstGeom prst="roundRect">
            <a:avLst>
              <a:gd name="adj" fmla="val 0"/>
            </a:avLst>
          </a:prstGeom>
          <a:solidFill>
            <a:srgbClr val="F4F5F6">
              <a:alpha val="100000"/>
            </a:srgbClr>
          </a:solidFill>
          <a:ln w="12700" cap="flat" cmpd="sng">
            <a:solidFill>
              <a:srgbClr val="F4F5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 txBox="1"/>
          <p:nvPr/>
        </p:nvSpPr>
        <p:spPr>
          <a:xfrm>
            <a:off x="6832600" y="2870200"/>
            <a:ext cx="3683000" cy="157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8303A"/>
                </a:solidFill>
                <a:latin typeface="Roboto Mono"/>
                <a:ea typeface="Roboto Mono"/>
                <a:cs typeface="Roboto Mono"/>
                <a:sym typeface="Roboto Mono"/>
              </a:rPr>
              <a:t>score_buf[tok] &lt;= q[0]*k[0]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8303A"/>
                </a:solidFill>
                <a:latin typeface="Roboto Mono"/>
                <a:ea typeface="Roboto Mono"/>
                <a:cs typeface="Roboto Mono"/>
                <a:sym typeface="Roboto Mono"/>
              </a:rPr>
              <a:t>　　　　　　　+ q[1]*k[1]</a:t>
            </a:r>
            <a:endParaRPr lang="en-US" sz="1200" b="0" i="0" u="none" strike="noStrike">
              <a:solidFill>
                <a:srgbClr val="28303A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8303A"/>
                </a:solidFill>
                <a:latin typeface="Roboto Mono"/>
                <a:ea typeface="Roboto Mono"/>
                <a:cs typeface="Roboto Mono"/>
                <a:sym typeface="Roboto Mono"/>
              </a:rPr>
              <a:t>　　　　　　　+ q[2]*k[2]</a:t>
            </a:r>
            <a:endParaRPr lang="en-US" sz="1200" b="0" i="0" u="none" strike="noStrike">
              <a:solidFill>
                <a:srgbClr val="28303A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8303A"/>
                </a:solidFill>
                <a:latin typeface="Roboto Mono"/>
                <a:ea typeface="Roboto Mono"/>
                <a:cs typeface="Roboto Mono"/>
                <a:sym typeface="Roboto Mono"/>
              </a:rPr>
              <a:t>　　　　　　　+ q[3]*k[3];</a:t>
            </a:r>
            <a:endParaRPr lang="en-US" sz="1200" b="0" i="0" u="none" strike="noStrike">
              <a:solidFill>
                <a:srgbClr val="28303A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8303A"/>
                </a:solidFill>
                <a:latin typeface="Roboto Mono"/>
                <a:ea typeface="Roboto Mono"/>
                <a:cs typeface="Roboto Mono"/>
                <a:sym typeface="Roboto Mono"/>
              </a:rPr>
              <a:t>// 四项乘积直接写进 score_buf</a:t>
            </a:r>
            <a:endParaRPr lang="en-US" sz="1200" b="0" i="0" u="none" strike="noStrike">
              <a:solidFill>
                <a:srgbClr val="28303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1524000" y="5207000"/>
            <a:ext cx="9144000" cy="660400"/>
          </a:xfrm>
          <a:prstGeom prst="roundRect">
            <a:avLst>
              <a:gd name="adj" fmla="val 0"/>
            </a:avLst>
          </a:prstGeom>
          <a:solidFill>
            <a:srgbClr val="F5EEDF">
              <a:alpha val="100000"/>
            </a:srgbClr>
          </a:solidFill>
          <a:ln w="12700" cap="flat" cmpd="sng">
            <a:solidFill>
              <a:srgbClr val="F5EED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524000" y="5207000"/>
            <a:ext cx="63500" cy="660400"/>
          </a:xfrm>
          <a:prstGeom prst="roundRect">
            <a:avLst>
              <a:gd name="adj" fmla="val 0"/>
            </a:avLst>
          </a:prstGeom>
          <a:solidFill>
            <a:srgbClr val="B8924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 txBox="1"/>
          <p:nvPr/>
        </p:nvSpPr>
        <p:spPr>
          <a:xfrm>
            <a:off x="1803400" y="5359400"/>
            <a:ext cx="863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C34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我把 AI 当老师，而不是答案机：它帮我定位和解释，我自己理解后动手改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4774">
            <a:off x="1524004" y="6292850"/>
            <a:ext cx="914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 txBox="1"/>
          <p:nvPr/>
        </p:nvSpPr>
        <p:spPr>
          <a:xfrm>
            <a:off x="1524000" y="64008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B87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Attention 加速器学习历程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8890000" y="6400800"/>
            <a:ext cx="177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B87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/ 10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AutoShape 2"/>
          <p:cNvSpPr txBox="1"/>
          <p:nvPr/>
        </p:nvSpPr>
        <p:spPr>
          <a:xfrm>
            <a:off x="762000" y="4318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AA1A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· ALGORITHM</a:t>
            </a:r>
            <a:endParaRPr lang="en-US" sz="1100"/>
          </a:p>
        </p:txBody>
      </p:sp>
      <p:sp>
        <p:nvSpPr>
          <p:cNvPr id="65" name="AutoShape 3"/>
          <p:cNvSpPr txBox="1"/>
          <p:nvPr/>
        </p:nvSpPr>
        <p:spPr>
          <a:xfrm>
            <a:off x="762000" y="762000"/>
            <a:ext cx="1016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算法三步：从打分到加权输出</a:t>
            </a:r>
            <a:endParaRPr lang="en-US" sz="1100"/>
          </a:p>
        </p:txBody>
      </p:sp>
      <p:cxnSp>
        <p:nvCxnSpPr>
          <p:cNvPr id="66" name="Connector 4"/>
          <p:cNvCxnSpPr/>
          <p:nvPr/>
        </p:nvCxnSpPr>
        <p:spPr>
          <a:xfrm rot="-4092">
            <a:off x="762004" y="1466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3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AutoShape 5"/>
          <p:cNvSpPr txBox="1"/>
          <p:nvPr/>
        </p:nvSpPr>
        <p:spPr>
          <a:xfrm>
            <a:off x="762000" y="17018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68" name="AutoShape 6"/>
          <p:cNvSpPr txBox="1"/>
          <p:nvPr/>
        </p:nvSpPr>
        <p:spPr>
          <a:xfrm>
            <a:off x="762000" y="2311400"/>
            <a:ext cx="342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点积打分</a:t>
            </a:r>
            <a:endParaRPr lang="en-US" sz="1100"/>
          </a:p>
        </p:txBody>
      </p:sp>
      <p:sp>
        <p:nvSpPr>
          <p:cNvPr id="69" name="AutoShape 7"/>
          <p:cNvSpPr txBox="1"/>
          <p:nvPr/>
        </p:nvSpPr>
        <p:spPr>
          <a:xfrm>
            <a:off x="762000" y="2717800"/>
            <a:ext cx="3429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70" name="AutoShape 8"/>
          <p:cNvSpPr txBox="1"/>
          <p:nvPr/>
        </p:nvSpPr>
        <p:spPr>
          <a:xfrm>
            <a:off x="762000" y="35306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5B647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与每个 K 做对应分量相乘再求和</a:t>
            </a:r>
            <a:endParaRPr lang="en-US" sz="1100"/>
          </a:p>
        </p:txBody>
      </p:sp>
      <p:cxnSp>
        <p:nvCxnSpPr>
          <p:cNvPr id="71" name="Connector 9"/>
          <p:cNvCxnSpPr/>
          <p:nvPr/>
        </p:nvCxnSpPr>
        <p:spPr>
          <a:xfrm rot="5381517">
            <a:off x="3136900" y="2876567"/>
            <a:ext cx="2362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3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2" name="AutoShape 10"/>
          <p:cNvSpPr txBox="1"/>
          <p:nvPr/>
        </p:nvSpPr>
        <p:spPr>
          <a:xfrm>
            <a:off x="4572000" y="17018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73" name="AutoShape 11"/>
          <p:cNvSpPr txBox="1"/>
          <p:nvPr/>
        </p:nvSpPr>
        <p:spPr>
          <a:xfrm>
            <a:off x="4572000" y="2311400"/>
            <a:ext cx="342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归一化（数值稳定）</a:t>
            </a:r>
            <a:endParaRPr lang="en-US" sz="1100"/>
          </a:p>
        </p:txBody>
      </p:sp>
      <p:sp>
        <p:nvSpPr>
          <p:cNvPr id="74" name="AutoShape 12"/>
          <p:cNvSpPr txBox="1"/>
          <p:nvPr/>
        </p:nvSpPr>
        <p:spPr>
          <a:xfrm>
            <a:off x="4572000" y="2667000"/>
            <a:ext cx="342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  <a:p>
            <a:pPr marL="0" indent="0" algn="l">
              <a:lnSpc>
                <a:spcPct val="125000"/>
              </a:lnSpc>
            </a:pPr>
          </a:p>
          <a:p>
            <a:pPr marL="0" indent="0" algn="l">
              <a:lnSpc>
                <a:spcPct val="125000"/>
              </a:lnSpc>
            </a:pPr>
          </a:p>
        </p:txBody>
      </p:sp>
      <p:cxnSp>
        <p:nvCxnSpPr>
          <p:cNvPr id="75" name="Connector 13"/>
          <p:cNvCxnSpPr/>
          <p:nvPr/>
        </p:nvCxnSpPr>
        <p:spPr>
          <a:xfrm rot="5381517">
            <a:off x="6946900" y="2876567"/>
            <a:ext cx="2362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3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" name="AutoShape 14"/>
          <p:cNvSpPr txBox="1"/>
          <p:nvPr/>
        </p:nvSpPr>
        <p:spPr>
          <a:xfrm>
            <a:off x="8382000" y="17018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77" name="AutoShape 15"/>
          <p:cNvSpPr txBox="1"/>
          <p:nvPr/>
        </p:nvSpPr>
        <p:spPr>
          <a:xfrm>
            <a:off x="8382000" y="2311400"/>
            <a:ext cx="342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加权输出</a:t>
            </a:r>
            <a:endParaRPr lang="en-US" sz="1100"/>
          </a:p>
        </p:txBody>
      </p:sp>
      <p:sp>
        <p:nvSpPr>
          <p:cNvPr id="78" name="AutoShape 16"/>
          <p:cNvSpPr txBox="1"/>
          <p:nvPr/>
        </p:nvSpPr>
        <p:spPr>
          <a:xfrm>
            <a:off x="8382000" y="2717800"/>
            <a:ext cx="342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79" name="AutoShape 17"/>
          <p:cNvSpPr txBox="1"/>
          <p:nvPr/>
        </p:nvSpPr>
        <p:spPr>
          <a:xfrm>
            <a:off x="8382000" y="37592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5B647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 = Σ w_j，分母 L 抵消定点缩放</a:t>
            </a:r>
            <a:endParaRPr lang="en-US" sz="1100"/>
          </a:p>
        </p:txBody>
      </p:sp>
      <p:sp>
        <p:nvSpPr>
          <p:cNvPr id="80" name="AutoShape 18"/>
          <p:cNvSpPr txBox="1"/>
          <p:nvPr/>
        </p:nvSpPr>
        <p:spPr>
          <a:xfrm>
            <a:off x="762000" y="42926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指数定点查表（4.4 定点，放大 16 倍）</a:t>
            </a:r>
            <a:endParaRPr lang="en-US" sz="1100"/>
          </a:p>
        </p:txBody>
      </p:sp>
      <p:graphicFrame>
        <p:nvGraphicFramePr>
          <p:cNvPr id="81" name="Table 19"/>
          <p:cNvGraphicFramePr>
            <a:graphicFrameLocks noGrp="1"/>
          </p:cNvGraphicFramePr>
          <p:nvPr/>
        </p:nvGraphicFramePr>
        <p:xfrm>
          <a:off x="762000" y="4648200"/>
          <a:ext cx="10668000" cy="1168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667000"/>
                <a:gridCol w="1600200"/>
                <a:gridCol w="1600200"/>
                <a:gridCol w="1600200"/>
                <a:gridCol w="1600200"/>
                <a:gridCol w="1600200"/>
              </a:tblGrid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u = xmax − score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5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5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5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5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5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u ≥ 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5F">
                        <a:alpha val="100000"/>
                      </a:srgbClr>
                    </a:solidFill>
                  </a:tcPr>
                </a:tc>
              </a:tr>
              <a:tr h="609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weight w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82" name="Connector 20"/>
          <p:cNvCxnSpPr/>
          <p:nvPr/>
        </p:nvCxnSpPr>
        <p:spPr>
          <a:xfrm rot="-4092">
            <a:off x="762004" y="6267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3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" name="AutoShape 21"/>
          <p:cNvSpPr txBox="1"/>
          <p:nvPr/>
        </p:nvSpPr>
        <p:spPr>
          <a:xfrm>
            <a:off x="762000" y="63754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AA1A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Attention 加速器 IP</a:t>
            </a:r>
            <a:endParaRPr lang="en-US" sz="1100"/>
          </a:p>
        </p:txBody>
      </p:sp>
      <p:sp>
        <p:nvSpPr>
          <p:cNvPr id="84" name="AutoShape 22"/>
          <p:cNvSpPr txBox="1"/>
          <p:nvPr/>
        </p:nvSpPr>
        <p:spPr>
          <a:xfrm>
            <a:off x="10922000" y="6375400"/>
            <a:ext cx="50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AA1A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AutoShape 2"/>
          <p:cNvSpPr txBox="1"/>
          <p:nvPr/>
        </p:nvSpPr>
        <p:spPr>
          <a:xfrm>
            <a:off x="762000" y="4318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AA1A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· WORKED EXAMPLE</a:t>
            </a:r>
            <a:endParaRPr lang="en-US" sz="1100"/>
          </a:p>
        </p:txBody>
      </p:sp>
      <p:sp>
        <p:nvSpPr>
          <p:cNvPr id="87" name="AutoShape 3"/>
          <p:cNvSpPr txBox="1"/>
          <p:nvPr/>
        </p:nvSpPr>
        <p:spPr>
          <a:xfrm>
            <a:off x="762000" y="762000"/>
            <a:ext cx="1016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手算示例：一组输入走通全流程</a:t>
            </a:r>
            <a:endParaRPr lang="en-US" sz="1100"/>
          </a:p>
        </p:txBody>
      </p:sp>
      <p:cxnSp>
        <p:nvCxnSpPr>
          <p:cNvPr id="88" name="Connector 4"/>
          <p:cNvCxnSpPr/>
          <p:nvPr/>
        </p:nvCxnSpPr>
        <p:spPr>
          <a:xfrm rot="-4092">
            <a:off x="762004" y="1466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3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" name="AutoShape 5"/>
          <p:cNvSpPr txBox="1"/>
          <p:nvPr/>
        </p:nvSpPr>
        <p:spPr>
          <a:xfrm>
            <a:off x="762000" y="1574800"/>
            <a:ext cx="762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B647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 q = [1, 2, −1, 0]</a:t>
            </a:r>
            <a:endParaRPr lang="en-US" sz="1100"/>
          </a:p>
        </p:txBody>
      </p:sp>
      <p:graphicFrame>
        <p:nvGraphicFramePr>
          <p:cNvPr id="90" name="Table 6"/>
          <p:cNvGraphicFramePr>
            <a:graphicFrameLocks noGrp="1"/>
          </p:cNvGraphicFramePr>
          <p:nvPr/>
        </p:nvGraphicFramePr>
        <p:xfrm>
          <a:off x="762000" y="1930400"/>
          <a:ext cx="10668000" cy="2032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422400"/>
                <a:gridCol w="1155700"/>
                <a:gridCol w="1155700"/>
                <a:gridCol w="1155700"/>
                <a:gridCol w="1155700"/>
                <a:gridCol w="1155700"/>
                <a:gridCol w="1155700"/>
                <a:gridCol w="1155700"/>
                <a:gridCol w="1155700"/>
              </a:tblGrid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token j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5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5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5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5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5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5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5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5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7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5F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score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−1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u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w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B886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1" name="AutoShape 7"/>
          <p:cNvSpPr txBox="1"/>
          <p:nvPr/>
        </p:nvSpPr>
        <p:spPr>
          <a:xfrm>
            <a:off x="762000" y="4089400"/>
            <a:ext cx="1066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0" i="0" u="none" strike="noStrike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xmax = 3　　L = 34　　ACC = [87, 77, 33, 63]</a:t>
            </a:r>
            <a:endParaRPr lang="en-US" sz="1100"/>
          </a:p>
        </p:txBody>
      </p:sp>
      <p:sp>
        <p:nvSpPr>
          <p:cNvPr id="92" name="AutoShape 8"/>
          <p:cNvSpPr txBox="1"/>
          <p:nvPr/>
        </p:nvSpPr>
        <p:spPr>
          <a:xfrm>
            <a:off x="762000" y="4572000"/>
            <a:ext cx="762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 O = [3, 2, 1, 2]</a:t>
            </a:r>
            <a:endParaRPr lang="en-US" sz="1100"/>
          </a:p>
        </p:txBody>
      </p:sp>
      <p:sp>
        <p:nvSpPr>
          <p:cNvPr id="93" name="AutoShape 9"/>
          <p:cNvSpPr txBox="1"/>
          <p:nvPr/>
        </p:nvSpPr>
        <p:spPr>
          <a:xfrm>
            <a:off x="762000" y="5257800"/>
            <a:ext cx="10668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5B647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校验：87/34 ≈ 2.56→3，77/34 ≈ 2.26→2，33/34 ≈ 0.97→1，63/34 ≈ 1.85→2</a:t>
            </a:r>
            <a:endParaRPr lang="en-US" sz="1100"/>
          </a:p>
        </p:txBody>
      </p:sp>
      <p:cxnSp>
        <p:nvCxnSpPr>
          <p:cNvPr id="94" name="Connector 10"/>
          <p:cNvCxnSpPr/>
          <p:nvPr/>
        </p:nvCxnSpPr>
        <p:spPr>
          <a:xfrm rot="-4092">
            <a:off x="762004" y="6267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3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" name="AutoShape 11"/>
          <p:cNvSpPr txBox="1"/>
          <p:nvPr/>
        </p:nvSpPr>
        <p:spPr>
          <a:xfrm>
            <a:off x="762000" y="63754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AA1A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Attention 加速器 IP</a:t>
            </a:r>
            <a:endParaRPr lang="en-US" sz="1100"/>
          </a:p>
        </p:txBody>
      </p:sp>
      <p:sp>
        <p:nvSpPr>
          <p:cNvPr id="96" name="AutoShape 12"/>
          <p:cNvSpPr txBox="1"/>
          <p:nvPr/>
        </p:nvSpPr>
        <p:spPr>
          <a:xfrm>
            <a:off x="10922000" y="6375400"/>
            <a:ext cx="50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AA1A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AutoShape 2"/>
          <p:cNvSpPr txBox="1"/>
          <p:nvPr/>
        </p:nvSpPr>
        <p:spPr>
          <a:xfrm>
            <a:off x="762000" y="4318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AA1A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· HARDWARE ARCHITECTURE</a:t>
            </a:r>
            <a:endParaRPr lang="en-US" sz="1100"/>
          </a:p>
        </p:txBody>
      </p:sp>
      <p:sp>
        <p:nvSpPr>
          <p:cNvPr id="99" name="AutoShape 3"/>
          <p:cNvSpPr txBox="1"/>
          <p:nvPr/>
        </p:nvSpPr>
        <p:spPr>
          <a:xfrm>
            <a:off x="762000" y="762000"/>
            <a:ext cx="1016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硬件架构总览：存储、计算与控制</a:t>
            </a:r>
            <a:endParaRPr lang="en-US" sz="1100"/>
          </a:p>
        </p:txBody>
      </p:sp>
      <p:cxnSp>
        <p:nvCxnSpPr>
          <p:cNvPr id="100" name="Connector 4"/>
          <p:cNvCxnSpPr/>
          <p:nvPr/>
        </p:nvCxnSpPr>
        <p:spPr>
          <a:xfrm rot="-4092">
            <a:off x="762004" y="1466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3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1" name="AutoShape 5"/>
          <p:cNvSpPr/>
          <p:nvPr/>
        </p:nvSpPr>
        <p:spPr>
          <a:xfrm>
            <a:off x="762000" y="1676400"/>
            <a:ext cx="3302000" cy="736600"/>
          </a:xfrm>
          <a:prstGeom prst="roundRect">
            <a:avLst>
              <a:gd name="adj" fmla="val 0"/>
            </a:avLst>
          </a:prstGeom>
          <a:solidFill>
            <a:srgbClr val="F0F2F5">
              <a:alpha val="100000"/>
            </a:srgbClr>
          </a:solidFill>
          <a:ln w="12700" cap="flat" cmpd="sng">
            <a:solidFill>
              <a:srgbClr val="B8C0C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2" name="AutoShape 6"/>
          <p:cNvSpPr txBox="1"/>
          <p:nvPr/>
        </p:nvSpPr>
        <p:spPr>
          <a:xfrm>
            <a:off x="762000" y="1676400"/>
            <a:ext cx="3302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5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Reg [0:3]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950" b="0" i="0" u="none" strike="noStrike">
                <a:solidFill>
                  <a:srgbClr val="5B647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8-bit 有符号 × 4</a:t>
            </a:r>
            <a:endParaRPr lang="en-US" sz="950" b="0" i="0" u="none" strike="noStrike">
              <a:solidFill>
                <a:srgbClr val="5B647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3" name="AutoShape 7"/>
          <p:cNvSpPr/>
          <p:nvPr/>
        </p:nvSpPr>
        <p:spPr>
          <a:xfrm>
            <a:off x="4318000" y="1676400"/>
            <a:ext cx="3302000" cy="736600"/>
          </a:xfrm>
          <a:prstGeom prst="roundRect">
            <a:avLst>
              <a:gd name="adj" fmla="val 0"/>
            </a:avLst>
          </a:prstGeom>
          <a:solidFill>
            <a:srgbClr val="F0F2F5">
              <a:alpha val="100000"/>
            </a:srgbClr>
          </a:solidFill>
          <a:ln w="12700" cap="flat" cmpd="sng">
            <a:solidFill>
              <a:srgbClr val="B8C0C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4" name="AutoShape 8"/>
          <p:cNvSpPr txBox="1"/>
          <p:nvPr/>
        </p:nvSpPr>
        <p:spPr>
          <a:xfrm>
            <a:off x="4318000" y="1676400"/>
            <a:ext cx="3302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5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 Buffer [0:31]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950" b="0" i="0" u="none" strike="noStrike">
                <a:solidFill>
                  <a:srgbClr val="5B647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8-bit 有符号 × 32</a:t>
            </a:r>
            <a:endParaRPr lang="en-US" sz="950" b="0" i="0" u="none" strike="noStrike">
              <a:solidFill>
                <a:srgbClr val="5B647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5" name="AutoShape 9"/>
          <p:cNvSpPr/>
          <p:nvPr/>
        </p:nvSpPr>
        <p:spPr>
          <a:xfrm>
            <a:off x="7874000" y="1676400"/>
            <a:ext cx="3302000" cy="736600"/>
          </a:xfrm>
          <a:prstGeom prst="roundRect">
            <a:avLst>
              <a:gd name="adj" fmla="val 0"/>
            </a:avLst>
          </a:prstGeom>
          <a:solidFill>
            <a:srgbClr val="F0F2F5">
              <a:alpha val="100000"/>
            </a:srgbClr>
          </a:solidFill>
          <a:ln w="12700" cap="flat" cmpd="sng">
            <a:solidFill>
              <a:srgbClr val="B8C0C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6" name="AutoShape 10"/>
          <p:cNvSpPr txBox="1"/>
          <p:nvPr/>
        </p:nvSpPr>
        <p:spPr>
          <a:xfrm>
            <a:off x="7874000" y="1676400"/>
            <a:ext cx="3302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5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 Buffer [0:31]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950" b="0" i="0" u="none" strike="noStrike">
                <a:solidFill>
                  <a:srgbClr val="5B647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8-bit 有符号 × 32</a:t>
            </a:r>
            <a:endParaRPr lang="en-US" sz="950" b="0" i="0" u="none" strike="noStrike">
              <a:solidFill>
                <a:srgbClr val="5B647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7" name="AutoShape 11"/>
          <p:cNvSpPr/>
          <p:nvPr/>
        </p:nvSpPr>
        <p:spPr>
          <a:xfrm>
            <a:off x="762000" y="2667000"/>
            <a:ext cx="2159000" cy="711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F3A5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8" name="AutoShape 12"/>
          <p:cNvSpPr txBox="1"/>
          <p:nvPr/>
        </p:nvSpPr>
        <p:spPr>
          <a:xfrm>
            <a:off x="762000" y="2667000"/>
            <a:ext cx="2159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点积 MAC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950" b="0" i="0" u="none" strike="noStrike">
                <a:solidFill>
                  <a:srgbClr val="5B647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 乘法 + 求和</a:t>
            </a:r>
            <a:endParaRPr lang="en-US" sz="950" b="0" i="0" u="none" strike="noStrike">
              <a:solidFill>
                <a:srgbClr val="5B647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9" name="AutoShape 13"/>
          <p:cNvSpPr/>
          <p:nvPr/>
        </p:nvSpPr>
        <p:spPr>
          <a:xfrm>
            <a:off x="3175000" y="2667000"/>
            <a:ext cx="1524000" cy="711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F3A5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0" name="AutoShape 14"/>
          <p:cNvSpPr txBox="1"/>
          <p:nvPr/>
        </p:nvSpPr>
        <p:spPr>
          <a:xfrm>
            <a:off x="3175000" y="2667000"/>
            <a:ext cx="1524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Score Buffer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950" b="0" i="0" u="none" strike="noStrike">
                <a:solidFill>
                  <a:srgbClr val="5B647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18-bit × 8</a:t>
            </a:r>
            <a:endParaRPr lang="en-US" sz="950" b="0" i="0" u="none" strike="noStrike">
              <a:solidFill>
                <a:srgbClr val="5B647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1" name="AutoShape 15"/>
          <p:cNvSpPr/>
          <p:nvPr/>
        </p:nvSpPr>
        <p:spPr>
          <a:xfrm>
            <a:off x="4953000" y="2667000"/>
            <a:ext cx="1524000" cy="711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F3A5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2" name="AutoShape 16"/>
          <p:cNvSpPr txBox="1"/>
          <p:nvPr/>
        </p:nvSpPr>
        <p:spPr>
          <a:xfrm>
            <a:off x="4953000" y="2667000"/>
            <a:ext cx="1524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MAX → xmax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950" b="0" i="0" u="none" strike="noStrike">
                <a:solidFill>
                  <a:srgbClr val="5B647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18-bit</a:t>
            </a:r>
            <a:endParaRPr lang="en-US" sz="950" b="0" i="0" u="none" strike="noStrike">
              <a:solidFill>
                <a:srgbClr val="5B647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3" name="AutoShape 17"/>
          <p:cNvSpPr/>
          <p:nvPr/>
        </p:nvSpPr>
        <p:spPr>
          <a:xfrm>
            <a:off x="6731000" y="2667000"/>
            <a:ext cx="1905000" cy="711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F3A5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4" name="AutoShape 18"/>
          <p:cNvSpPr txBox="1"/>
          <p:nvPr/>
        </p:nvSpPr>
        <p:spPr>
          <a:xfrm>
            <a:off x="6731000" y="2667000"/>
            <a:ext cx="1905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LUT → Weight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950" b="0" i="0" u="none" strike="noStrike">
                <a:solidFill>
                  <a:srgbClr val="5B647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4.4 定点 × 8</a:t>
            </a:r>
            <a:endParaRPr lang="en-US" sz="950" b="0" i="0" u="none" strike="noStrike">
              <a:solidFill>
                <a:srgbClr val="5B647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5" name="AutoShape 19"/>
          <p:cNvSpPr/>
          <p:nvPr/>
        </p:nvSpPr>
        <p:spPr>
          <a:xfrm>
            <a:off x="762000" y="3632200"/>
            <a:ext cx="1524000" cy="711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F3A5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6" name="AutoShape 20"/>
          <p:cNvSpPr txBox="1"/>
          <p:nvPr/>
        </p:nvSpPr>
        <p:spPr>
          <a:xfrm>
            <a:off x="762000" y="3632200"/>
            <a:ext cx="1524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 累加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950" b="0" i="0" u="none" strike="noStrike">
                <a:solidFill>
                  <a:srgbClr val="5B647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4.4 定点</a:t>
            </a:r>
            <a:endParaRPr lang="en-US" sz="950" b="0" i="0" u="none" strike="noStrike">
              <a:solidFill>
                <a:srgbClr val="5B647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7" name="AutoShape 21"/>
          <p:cNvSpPr/>
          <p:nvPr/>
        </p:nvSpPr>
        <p:spPr>
          <a:xfrm>
            <a:off x="2540000" y="3632200"/>
            <a:ext cx="3302000" cy="711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F3A5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8" name="AutoShape 22"/>
          <p:cNvSpPr txBox="1"/>
          <p:nvPr/>
        </p:nvSpPr>
        <p:spPr>
          <a:xfrm>
            <a:off x="2540000" y="3632200"/>
            <a:ext cx="330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ACC [0:3]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950" b="0" i="0" u="none" strike="noStrike">
                <a:solidFill>
                  <a:srgbClr val="5B647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20-bit × 4</a:t>
            </a:r>
            <a:endParaRPr lang="en-US" sz="950" b="0" i="0" u="none" strike="noStrike">
              <a:solidFill>
                <a:srgbClr val="5B647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9" name="AutoShape 23"/>
          <p:cNvSpPr/>
          <p:nvPr/>
        </p:nvSpPr>
        <p:spPr>
          <a:xfrm>
            <a:off x="6096000" y="3632200"/>
            <a:ext cx="1778000" cy="711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F3A5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0" name="AutoShape 24"/>
          <p:cNvSpPr txBox="1"/>
          <p:nvPr/>
        </p:nvSpPr>
        <p:spPr>
          <a:xfrm>
            <a:off x="6096000" y="3632200"/>
            <a:ext cx="1778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Divide / L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950" b="0" i="0" u="none" strike="noStrike">
                <a:solidFill>
                  <a:srgbClr val="5B647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四舍五入</a:t>
            </a:r>
            <a:endParaRPr lang="en-US" sz="950" b="0" i="0" u="none" strike="noStrike">
              <a:solidFill>
                <a:srgbClr val="5B647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1" name="AutoShape 25"/>
          <p:cNvSpPr/>
          <p:nvPr/>
        </p:nvSpPr>
        <p:spPr>
          <a:xfrm>
            <a:off x="8128000" y="3632200"/>
            <a:ext cx="3048000" cy="711200"/>
          </a:xfrm>
          <a:prstGeom prst="roundRect">
            <a:avLst>
              <a:gd name="adj" fmla="val 0"/>
            </a:avLst>
          </a:prstGeom>
          <a:solidFill>
            <a:srgbClr val="E8EEF6">
              <a:alpha val="100000"/>
            </a:srgbClr>
          </a:solidFill>
          <a:ln w="12700" cap="flat" cmpd="sng">
            <a:solidFill>
              <a:srgbClr val="1F3A5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2" name="AutoShape 26"/>
          <p:cNvSpPr txBox="1"/>
          <p:nvPr/>
        </p:nvSpPr>
        <p:spPr>
          <a:xfrm>
            <a:off x="8128000" y="3632200"/>
            <a:ext cx="3048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O_buf → 输出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950" b="0" i="0" u="none" strike="noStrike">
                <a:solidFill>
                  <a:srgbClr val="5B647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8-bit 有符号</a:t>
            </a:r>
            <a:endParaRPr lang="en-US" sz="950" b="0" i="0" u="none" strike="noStrike">
              <a:solidFill>
                <a:srgbClr val="5B647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23" name="Connector 27"/>
          <p:cNvCxnSpPr/>
          <p:nvPr/>
        </p:nvCxnSpPr>
        <p:spPr>
          <a:xfrm rot="5057364">
            <a:off x="1778000" y="2470467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Connector 28"/>
          <p:cNvCxnSpPr/>
          <p:nvPr/>
        </p:nvCxnSpPr>
        <p:spPr>
          <a:xfrm rot="5057364">
            <a:off x="5905500" y="2470467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" name="Connector 29"/>
          <p:cNvCxnSpPr/>
          <p:nvPr/>
        </p:nvCxnSpPr>
        <p:spPr>
          <a:xfrm rot="-10577">
            <a:off x="1841510" y="2533650"/>
            <a:ext cx="412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" name="Connector 30"/>
          <p:cNvCxnSpPr/>
          <p:nvPr/>
        </p:nvCxnSpPr>
        <p:spPr>
          <a:xfrm rot="5057364">
            <a:off x="1778000" y="2597467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27" name="Connector 31"/>
          <p:cNvCxnSpPr/>
          <p:nvPr/>
        </p:nvCxnSpPr>
        <p:spPr>
          <a:xfrm rot="-171744">
            <a:off x="2921159" y="30162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28" name="Connector 32"/>
          <p:cNvCxnSpPr/>
          <p:nvPr/>
        </p:nvCxnSpPr>
        <p:spPr>
          <a:xfrm rot="-171744">
            <a:off x="4699159" y="30162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29" name="Connector 33"/>
          <p:cNvCxnSpPr/>
          <p:nvPr/>
        </p:nvCxnSpPr>
        <p:spPr>
          <a:xfrm rot="-171744">
            <a:off x="6477159" y="30162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30" name="Connector 34"/>
          <p:cNvCxnSpPr/>
          <p:nvPr/>
        </p:nvCxnSpPr>
        <p:spPr>
          <a:xfrm rot="5114181">
            <a:off x="7607300" y="34483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Connector 35"/>
          <p:cNvCxnSpPr/>
          <p:nvPr/>
        </p:nvCxnSpPr>
        <p:spPr>
          <a:xfrm rot="-7088">
            <a:off x="1524007" y="3524250"/>
            <a:ext cx="615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" name="Connector 36"/>
          <p:cNvCxnSpPr/>
          <p:nvPr/>
        </p:nvCxnSpPr>
        <p:spPr>
          <a:xfrm rot="4972499">
            <a:off x="1473200" y="3575445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33" name="Connector 37"/>
          <p:cNvCxnSpPr/>
          <p:nvPr/>
        </p:nvCxnSpPr>
        <p:spPr>
          <a:xfrm rot="4972499">
            <a:off x="4140200" y="3575445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34" name="Connector 38"/>
          <p:cNvCxnSpPr/>
          <p:nvPr/>
        </p:nvCxnSpPr>
        <p:spPr>
          <a:xfrm rot="5361804">
            <a:off x="8953500" y="2978185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" name="Connector 39"/>
          <p:cNvCxnSpPr/>
          <p:nvPr/>
        </p:nvCxnSpPr>
        <p:spPr>
          <a:xfrm rot="-9822">
            <a:off x="5080009" y="3549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Connector 40"/>
          <p:cNvCxnSpPr/>
          <p:nvPr/>
        </p:nvCxnSpPr>
        <p:spPr>
          <a:xfrm rot="4832260">
            <a:off x="5041900" y="3588276"/>
            <a:ext cx="76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37" name="Connector 41"/>
          <p:cNvCxnSpPr/>
          <p:nvPr/>
        </p:nvCxnSpPr>
        <p:spPr>
          <a:xfrm rot="5057364">
            <a:off x="1460500" y="4400867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" name="Connector 42"/>
          <p:cNvCxnSpPr/>
          <p:nvPr/>
        </p:nvCxnSpPr>
        <p:spPr>
          <a:xfrm rot="-7994">
            <a:off x="1524007" y="4464050"/>
            <a:ext cx="546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" name="Connector 43"/>
          <p:cNvCxnSpPr/>
          <p:nvPr/>
        </p:nvCxnSpPr>
        <p:spPr>
          <a:xfrm rot="-5742635">
            <a:off x="6921500" y="4400233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40" name="Connector 44"/>
          <p:cNvCxnSpPr/>
          <p:nvPr/>
        </p:nvCxnSpPr>
        <p:spPr>
          <a:xfrm rot="-171744">
            <a:off x="5842159" y="39814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41" name="Connector 45"/>
          <p:cNvCxnSpPr/>
          <p:nvPr/>
        </p:nvCxnSpPr>
        <p:spPr>
          <a:xfrm rot="-171744">
            <a:off x="7874159" y="39814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42" name="AutoShape 46"/>
          <p:cNvSpPr/>
          <p:nvPr/>
        </p:nvSpPr>
        <p:spPr>
          <a:xfrm>
            <a:off x="762000" y="4648200"/>
            <a:ext cx="10414000" cy="762000"/>
          </a:xfrm>
          <a:prstGeom prst="roundRect">
            <a:avLst>
              <a:gd name="adj" fmla="val 0"/>
            </a:avLst>
          </a:prstGeom>
          <a:solidFill>
            <a:srgbClr val="1F3A5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3" name="AutoShape 47"/>
          <p:cNvSpPr txBox="1"/>
          <p:nvPr/>
        </p:nvSpPr>
        <p:spPr>
          <a:xfrm>
            <a:off x="762000" y="4648200"/>
            <a:ext cx="1041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有限状态机 FSM（10 状态）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05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计数器 tok_cnt / dim_cnt / q_cnt · 握手反压 valid / data_ready / done</a:t>
            </a:r>
            <a:endParaRPr lang="en-US" sz="105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44" name="Connector 48"/>
          <p:cNvCxnSpPr/>
          <p:nvPr/>
        </p:nvCxnSpPr>
        <p:spPr>
          <a:xfrm rot="-4092">
            <a:off x="762004" y="6267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3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5" name="AutoShape 49"/>
          <p:cNvSpPr txBox="1"/>
          <p:nvPr/>
        </p:nvSpPr>
        <p:spPr>
          <a:xfrm>
            <a:off x="762000" y="63754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AA1A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Attention 加速器 IP</a:t>
            </a:r>
            <a:endParaRPr lang="en-US" sz="1100"/>
          </a:p>
        </p:txBody>
      </p:sp>
      <p:sp>
        <p:nvSpPr>
          <p:cNvPr id="146" name="AutoShape 50"/>
          <p:cNvSpPr txBox="1"/>
          <p:nvPr/>
        </p:nvSpPr>
        <p:spPr>
          <a:xfrm>
            <a:off x="10922000" y="6375400"/>
            <a:ext cx="50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AA1A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AutoShape 2"/>
          <p:cNvSpPr txBox="1"/>
          <p:nvPr/>
        </p:nvSpPr>
        <p:spPr>
          <a:xfrm>
            <a:off x="762000" y="4318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AA1A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· FINITE STATE MACHINE</a:t>
            </a:r>
            <a:endParaRPr lang="en-US" sz="1100"/>
          </a:p>
        </p:txBody>
      </p:sp>
      <p:sp>
        <p:nvSpPr>
          <p:cNvPr id="149" name="AutoShape 3"/>
          <p:cNvSpPr txBox="1"/>
          <p:nvPr/>
        </p:nvSpPr>
        <p:spPr>
          <a:xfrm>
            <a:off x="762000" y="762000"/>
            <a:ext cx="1016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状态机设计：10 个状态，三阶段流转</a:t>
            </a:r>
            <a:endParaRPr lang="en-US" sz="1100"/>
          </a:p>
        </p:txBody>
      </p:sp>
      <p:cxnSp>
        <p:nvCxnSpPr>
          <p:cNvPr id="150" name="Connector 4"/>
          <p:cNvCxnSpPr/>
          <p:nvPr/>
        </p:nvCxnSpPr>
        <p:spPr>
          <a:xfrm rot="-4092">
            <a:off x="762004" y="1466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3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" name="AutoShape 5"/>
          <p:cNvSpPr txBox="1"/>
          <p:nvPr/>
        </p:nvSpPr>
        <p:spPr>
          <a:xfrm>
            <a:off x="762000" y="1651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状态转移</a:t>
            </a:r>
            <a:endParaRPr lang="en-US" sz="1100"/>
          </a:p>
        </p:txBody>
      </p:sp>
      <p:sp>
        <p:nvSpPr>
          <p:cNvPr id="152" name="AutoShape 6"/>
          <p:cNvSpPr/>
          <p:nvPr/>
        </p:nvSpPr>
        <p:spPr>
          <a:xfrm>
            <a:off x="762000" y="2006600"/>
            <a:ext cx="4826000" cy="838200"/>
          </a:xfrm>
          <a:prstGeom prst="roundRect">
            <a:avLst>
              <a:gd name="adj" fmla="val 0"/>
            </a:avLst>
          </a:prstGeom>
          <a:solidFill>
            <a:srgbClr val="F0F2F5">
              <a:alpha val="100000"/>
            </a:srgbClr>
          </a:solidFill>
          <a:ln w="12700" cap="flat" cmpd="sng">
            <a:solidFill>
              <a:srgbClr val="B8C0C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3" name="AutoShape 7"/>
          <p:cNvSpPr txBox="1"/>
          <p:nvPr/>
        </p:nvSpPr>
        <p:spPr>
          <a:xfrm>
            <a:off x="762000" y="2006600"/>
            <a:ext cx="4826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25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IDLE → LOAD_Q → LOAD_KV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000" b="0" i="0" u="none" strike="noStrike">
                <a:solidFill>
                  <a:srgbClr val="5B647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装载阶段：4 拍 Q + 32 拍 K/V</a:t>
            </a:r>
            <a:endParaRPr lang="en-US" sz="1000" b="0" i="0" u="none" strike="noStrike">
              <a:solidFill>
                <a:srgbClr val="5B647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54" name="Connector 8"/>
          <p:cNvCxnSpPr/>
          <p:nvPr/>
        </p:nvCxnSpPr>
        <p:spPr>
          <a:xfrm rot="5228255">
            <a:off x="3048000" y="29656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55" name="AutoShape 9"/>
          <p:cNvSpPr/>
          <p:nvPr/>
        </p:nvSpPr>
        <p:spPr>
          <a:xfrm>
            <a:off x="762000" y="3098800"/>
            <a:ext cx="4826000" cy="838200"/>
          </a:xfrm>
          <a:prstGeom prst="roundRect">
            <a:avLst>
              <a:gd name="adj" fmla="val 0"/>
            </a:avLst>
          </a:prstGeom>
          <a:solidFill>
            <a:srgbClr val="F0F2F5">
              <a:alpha val="100000"/>
            </a:srgbClr>
          </a:solidFill>
          <a:ln w="12700" cap="flat" cmpd="sng">
            <a:solidFill>
              <a:srgbClr val="B8C0C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6" name="AutoShape 10"/>
          <p:cNvSpPr txBox="1"/>
          <p:nvPr/>
        </p:nvSpPr>
        <p:spPr>
          <a:xfrm>
            <a:off x="762000" y="3098800"/>
            <a:ext cx="4826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DOT → MAX → EXP → UPDATE → NEXT ↺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000" b="0" i="0" u="none" strike="noStrike">
                <a:solidFill>
                  <a:srgbClr val="5B647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计算阶段：8 + 1 + 24 拍（NEXT 回 EXP）</a:t>
            </a:r>
            <a:endParaRPr lang="en-US" sz="1000" b="0" i="0" u="none" strike="noStrike">
              <a:solidFill>
                <a:srgbClr val="5B647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57" name="Connector 11"/>
          <p:cNvCxnSpPr/>
          <p:nvPr/>
        </p:nvCxnSpPr>
        <p:spPr>
          <a:xfrm rot="5228255">
            <a:off x="3048000" y="40578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58" name="AutoShape 12"/>
          <p:cNvSpPr/>
          <p:nvPr/>
        </p:nvSpPr>
        <p:spPr>
          <a:xfrm>
            <a:off x="762000" y="4191000"/>
            <a:ext cx="4826000" cy="838200"/>
          </a:xfrm>
          <a:prstGeom prst="roundRect">
            <a:avLst>
              <a:gd name="adj" fmla="val 0"/>
            </a:avLst>
          </a:prstGeom>
          <a:solidFill>
            <a:srgbClr val="F0F2F5">
              <a:alpha val="100000"/>
            </a:srgbClr>
          </a:solidFill>
          <a:ln w="12700" cap="flat" cmpd="sng">
            <a:solidFill>
              <a:srgbClr val="B8C0C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9" name="AutoShape 13"/>
          <p:cNvSpPr txBox="1"/>
          <p:nvPr/>
        </p:nvSpPr>
        <p:spPr>
          <a:xfrm>
            <a:off x="762000" y="4191000"/>
            <a:ext cx="4826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25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NORM → OUTPUT → IDLE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000" b="0" i="0" u="none" strike="noStrike">
                <a:solidFill>
                  <a:srgbClr val="5B647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输出阶段：1 + 4 拍，末拍 done 后回 IDLE</a:t>
            </a:r>
            <a:endParaRPr lang="en-US" sz="1000" b="0" i="0" u="none" strike="noStrike">
              <a:solidFill>
                <a:srgbClr val="5B647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0" name="AutoShape 14"/>
          <p:cNvSpPr txBox="1"/>
          <p:nvPr/>
        </p:nvSpPr>
        <p:spPr>
          <a:xfrm>
            <a:off x="5969000" y="1651000"/>
            <a:ext cx="546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各状态职责</a:t>
            </a:r>
            <a:endParaRPr lang="en-US" sz="1100"/>
          </a:p>
        </p:txBody>
      </p:sp>
      <p:graphicFrame>
        <p:nvGraphicFramePr>
          <p:cNvPr id="161" name="Table 15"/>
          <p:cNvGraphicFramePr>
            <a:graphicFrameLocks noGrp="1"/>
          </p:cNvGraphicFramePr>
          <p:nvPr/>
        </p:nvGraphicFramePr>
        <p:xfrm>
          <a:off x="5969000" y="2006600"/>
          <a:ext cx="5461000" cy="3911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97000"/>
                <a:gridCol w="4064000"/>
              </a:tblGrid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状态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5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职责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5F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F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IDLE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等 start，启动时清零累加器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F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LOAD_Q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 拍装载 Q 的 4 个分量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F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LOAD_KV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32 拍装载 K/V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F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DOT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每 token 1 拍，4 路并行点积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F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MAX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 拍组合比较，找 xmax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F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EXP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u ≥ 4 守卫，查 LUT 得 weight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F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UPDATE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累加 L 与 4 路 ACC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F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NEXT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token 计数，回 EXP 继续循环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F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NORM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除以 L，带符号四舍五入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F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OUTPUT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 拍输出，末拍 done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62" name="Connector 16"/>
          <p:cNvCxnSpPr/>
          <p:nvPr/>
        </p:nvCxnSpPr>
        <p:spPr>
          <a:xfrm rot="-4092">
            <a:off x="762004" y="6267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3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3" name="AutoShape 17"/>
          <p:cNvSpPr txBox="1"/>
          <p:nvPr/>
        </p:nvSpPr>
        <p:spPr>
          <a:xfrm>
            <a:off x="762000" y="63754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AA1A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Attention 加速器 IP</a:t>
            </a:r>
            <a:endParaRPr lang="en-US" sz="1100"/>
          </a:p>
        </p:txBody>
      </p:sp>
      <p:sp>
        <p:nvSpPr>
          <p:cNvPr id="164" name="AutoShape 18"/>
          <p:cNvSpPr txBox="1"/>
          <p:nvPr/>
        </p:nvSpPr>
        <p:spPr>
          <a:xfrm>
            <a:off x="10922000" y="6375400"/>
            <a:ext cx="50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AA1A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AutoShape 2"/>
          <p:cNvSpPr txBox="1"/>
          <p:nvPr/>
        </p:nvSpPr>
        <p:spPr>
          <a:xfrm>
            <a:off x="762000" y="4318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AA1A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· BIT-WIDTH DERIVATION</a:t>
            </a:r>
            <a:endParaRPr lang="en-US" sz="1100"/>
          </a:p>
        </p:txBody>
      </p:sp>
      <p:sp>
        <p:nvSpPr>
          <p:cNvPr id="167" name="AutoShape 3"/>
          <p:cNvSpPr txBox="1"/>
          <p:nvPr/>
        </p:nvSpPr>
        <p:spPr>
          <a:xfrm>
            <a:off x="762000" y="762000"/>
            <a:ext cx="1016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位宽推导：按最坏情况留足余量</a:t>
            </a:r>
            <a:endParaRPr lang="en-US" sz="1100"/>
          </a:p>
        </p:txBody>
      </p:sp>
      <p:cxnSp>
        <p:nvCxnSpPr>
          <p:cNvPr id="168" name="Connector 4"/>
          <p:cNvCxnSpPr/>
          <p:nvPr/>
        </p:nvCxnSpPr>
        <p:spPr>
          <a:xfrm rot="-4092">
            <a:off x="762004" y="1466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3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9" name="AutoShape 5"/>
          <p:cNvSpPr txBox="1"/>
          <p:nvPr/>
        </p:nvSpPr>
        <p:spPr>
          <a:xfrm>
            <a:off x="762000" y="16002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5B647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原则：按各信号最大绝对值（8-bit 输入最大 127）推导，防止乘法与累加溢出</a:t>
            </a:r>
            <a:endParaRPr lang="en-US" sz="1100"/>
          </a:p>
        </p:txBody>
      </p:sp>
      <p:graphicFrame>
        <p:nvGraphicFramePr>
          <p:cNvPr id="170" name="Table 6"/>
          <p:cNvGraphicFramePr>
            <a:graphicFrameLocks noGrp="1"/>
          </p:cNvGraphicFramePr>
          <p:nvPr/>
        </p:nvGraphicFramePr>
        <p:xfrm>
          <a:off x="762000" y="1981200"/>
          <a:ext cx="10668000" cy="3784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19200"/>
                <a:gridCol w="1905000"/>
                <a:gridCol w="4978400"/>
                <a:gridCol w="1295400"/>
                <a:gridCol w="1270000"/>
              </a:tblGrid>
              <a:tr h="482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信号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5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含义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5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最大量级推导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5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位宽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5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格式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A5F">
                        <a:alpha val="100000"/>
                      </a:srgbClr>
                    </a:solidFill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F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score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点积结果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 项乘积求和：4 × 127 × 127 = 64516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B886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18-bit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有符号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F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weight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指数权重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最大 exp(0) × 16 = 16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B886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16-bit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4.4 定点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F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L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权重之和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8 个权重求和：8 × 16 = 128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B886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16-bit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4.4 定点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F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ACC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加权累加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8 项 weight×V：8 × 16 × 127 = 16256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B886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20-bit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4.4 定点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F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最终输出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除以 L 后定点缩放抵消，回到原始量纲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B886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8-bit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3E4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有符号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1" name="AutoShape 7"/>
          <p:cNvSpPr txBox="1"/>
          <p:nvPr/>
        </p:nvSpPr>
        <p:spPr>
          <a:xfrm>
            <a:off x="762000" y="58420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B647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注：4.4 定点 = 1 位整数 + 4 位小数，数值整体放大 16 倍；分子分母同放大，除法后抵消</a:t>
            </a:r>
            <a:endParaRPr lang="en-US" sz="1100"/>
          </a:p>
        </p:txBody>
      </p:sp>
      <p:cxnSp>
        <p:nvCxnSpPr>
          <p:cNvPr id="172" name="Connector 8"/>
          <p:cNvCxnSpPr/>
          <p:nvPr/>
        </p:nvCxnSpPr>
        <p:spPr>
          <a:xfrm rot="-4092">
            <a:off x="762004" y="6267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3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3" name="AutoShape 9"/>
          <p:cNvSpPr txBox="1"/>
          <p:nvPr/>
        </p:nvSpPr>
        <p:spPr>
          <a:xfrm>
            <a:off x="762000" y="63754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AA1A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Attention 加速器 IP</a:t>
            </a:r>
            <a:endParaRPr lang="en-US" sz="1100"/>
          </a:p>
        </p:txBody>
      </p:sp>
      <p:sp>
        <p:nvSpPr>
          <p:cNvPr id="174" name="AutoShape 10"/>
          <p:cNvSpPr txBox="1"/>
          <p:nvPr/>
        </p:nvSpPr>
        <p:spPr>
          <a:xfrm>
            <a:off x="10922000" y="6375400"/>
            <a:ext cx="50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AA1A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AutoShape 2"/>
          <p:cNvSpPr txBox="1"/>
          <p:nvPr/>
        </p:nvSpPr>
        <p:spPr>
          <a:xfrm>
            <a:off x="762000" y="4318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AA1A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· VERIFICATION METHODOLOGY</a:t>
            </a:r>
            <a:endParaRPr lang="en-US" sz="1100"/>
          </a:p>
        </p:txBody>
      </p:sp>
      <p:sp>
        <p:nvSpPr>
          <p:cNvPr id="177" name="AutoShape 3"/>
          <p:cNvSpPr txBox="1"/>
          <p:nvPr/>
        </p:nvSpPr>
        <p:spPr>
          <a:xfrm>
            <a:off x="762000" y="762000"/>
            <a:ext cx="1016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验证方法：三层递进，覆盖功能与时序</a:t>
            </a:r>
            <a:endParaRPr lang="en-US" sz="1100"/>
          </a:p>
        </p:txBody>
      </p:sp>
      <p:cxnSp>
        <p:nvCxnSpPr>
          <p:cNvPr id="178" name="Connector 4"/>
          <p:cNvCxnSpPr/>
          <p:nvPr/>
        </p:nvCxnSpPr>
        <p:spPr>
          <a:xfrm rot="-4092">
            <a:off x="762004" y="1466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3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9" name="AutoShape 5"/>
          <p:cNvSpPr txBox="1"/>
          <p:nvPr/>
        </p:nvSpPr>
        <p:spPr>
          <a:xfrm>
            <a:off x="762000" y="17526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180" name="AutoShape 6"/>
          <p:cNvSpPr txBox="1"/>
          <p:nvPr/>
        </p:nvSpPr>
        <p:spPr>
          <a:xfrm>
            <a:off x="762000" y="2362200"/>
            <a:ext cx="330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冒烟测试</a:t>
            </a:r>
            <a:endParaRPr lang="en-US" sz="1100"/>
          </a:p>
        </p:txBody>
      </p:sp>
      <p:sp>
        <p:nvSpPr>
          <p:cNvPr id="181" name="AutoShape 7"/>
          <p:cNvSpPr txBox="1"/>
          <p:nvPr/>
        </p:nvSpPr>
        <p:spPr>
          <a:xfrm>
            <a:off x="762000" y="27686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 组固定激励，验证握手与 done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打印 score/weight/L/ACC 与手算核对</a:t>
            </a:r>
            <a:endParaRPr lang="en-US" sz="1200" b="0" i="0" u="none" strike="noStrike">
              <a:solidFill>
                <a:srgbClr val="373E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82" name="Connector 8"/>
          <p:cNvCxnSpPr/>
          <p:nvPr/>
        </p:nvCxnSpPr>
        <p:spPr>
          <a:xfrm rot="5382981">
            <a:off x="2971800" y="3028966"/>
            <a:ext cx="256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3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3" name="AutoShape 9"/>
          <p:cNvSpPr txBox="1"/>
          <p:nvPr/>
        </p:nvSpPr>
        <p:spPr>
          <a:xfrm>
            <a:off x="4445000" y="17526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84" name="AutoShape 10"/>
          <p:cNvSpPr txBox="1"/>
          <p:nvPr/>
        </p:nvSpPr>
        <p:spPr>
          <a:xfrm>
            <a:off x="4445000" y="2362200"/>
            <a:ext cx="330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随机测试</a:t>
            </a:r>
            <a:endParaRPr lang="en-US" sz="1100"/>
          </a:p>
        </p:txBody>
      </p:sp>
      <p:sp>
        <p:nvSpPr>
          <p:cNvPr id="185" name="AutoShape 11"/>
          <p:cNvSpPr txBox="1"/>
          <p:nvPr/>
        </p:nvSpPr>
        <p:spPr>
          <a:xfrm>
            <a:off x="4445000" y="27686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自动生成 100 组随机输入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 golden_model.py 逐分量比对</a:t>
            </a:r>
            <a:endParaRPr lang="en-US" sz="1200" b="0" i="0" u="none" strike="noStrike">
              <a:solidFill>
                <a:srgbClr val="373E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86" name="Connector 12"/>
          <p:cNvCxnSpPr/>
          <p:nvPr/>
        </p:nvCxnSpPr>
        <p:spPr>
          <a:xfrm rot="5382981">
            <a:off x="6654800" y="3028966"/>
            <a:ext cx="256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3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7" name="AutoShape 13"/>
          <p:cNvSpPr txBox="1"/>
          <p:nvPr/>
        </p:nvSpPr>
        <p:spPr>
          <a:xfrm>
            <a:off x="8128000" y="17526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88" name="AutoShape 14"/>
          <p:cNvSpPr txBox="1"/>
          <p:nvPr/>
        </p:nvSpPr>
        <p:spPr>
          <a:xfrm>
            <a:off x="8128000" y="2362200"/>
            <a:ext cx="330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性质校验</a:t>
            </a:r>
            <a:endParaRPr lang="en-US" sz="1100"/>
          </a:p>
        </p:txBody>
      </p:sp>
      <p:sp>
        <p:nvSpPr>
          <p:cNvPr id="189" name="AutoShape 15"/>
          <p:cNvSpPr txBox="1"/>
          <p:nvPr/>
        </p:nvSpPr>
        <p:spPr>
          <a:xfrm>
            <a:off x="8128000" y="27686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权重非负、和归一化，输出为 V 的凸组合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复位 / 二次任务无残值</a:t>
            </a:r>
            <a:endParaRPr lang="en-US" sz="1200" b="0" i="0" u="none" strike="noStrike">
              <a:solidFill>
                <a:srgbClr val="373E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0" name="AutoShape 16"/>
          <p:cNvSpPr/>
          <p:nvPr/>
        </p:nvSpPr>
        <p:spPr>
          <a:xfrm>
            <a:off x="762000" y="4521200"/>
            <a:ext cx="10668000" cy="1193800"/>
          </a:xfrm>
          <a:prstGeom prst="roundRect">
            <a:avLst>
              <a:gd name="adj" fmla="val 0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C8CED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1" name="AutoShape 17"/>
          <p:cNvSpPr txBox="1"/>
          <p:nvPr/>
        </p:nvSpPr>
        <p:spPr>
          <a:xfrm>
            <a:off x="965200" y="4521200"/>
            <a:ext cx="10287000" cy="1193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150" b="0" i="0" u="none" strike="noStrike">
                <a:solidFill>
                  <a:srgbClr val="2D343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sim.bat 编译 + 冒烟测试（固定激励）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150" b="0" i="0" u="none" strike="noStrike">
                <a:solidFill>
                  <a:srgbClr val="2D343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sim_random.bat 100 组随机 + golden 逐分量比对</a:t>
            </a:r>
            <a:endParaRPr lang="en-US" sz="1150" b="0" i="0" u="none" strike="noStrike">
              <a:solidFill>
                <a:srgbClr val="2D343E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150" b="0" i="0" u="none" strike="noStrike">
                <a:solidFill>
                  <a:srgbClr val="2D343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wave.bat GTKWave 打开波形定位时序</a:t>
            </a:r>
            <a:endParaRPr lang="en-US" sz="1150" b="0" i="0" u="none" strike="noStrike">
              <a:solidFill>
                <a:srgbClr val="2D343E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cxnSp>
        <p:nvCxnSpPr>
          <p:cNvPr id="192" name="Connector 18"/>
          <p:cNvCxnSpPr/>
          <p:nvPr/>
        </p:nvCxnSpPr>
        <p:spPr>
          <a:xfrm rot="-4092">
            <a:off x="762004" y="6267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3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3" name="AutoShape 19"/>
          <p:cNvSpPr txBox="1"/>
          <p:nvPr/>
        </p:nvSpPr>
        <p:spPr>
          <a:xfrm>
            <a:off x="762000" y="63754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AA1A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Attention 加速器 IP</a:t>
            </a:r>
            <a:endParaRPr lang="en-US" sz="1100"/>
          </a:p>
        </p:txBody>
      </p:sp>
      <p:sp>
        <p:nvSpPr>
          <p:cNvPr id="194" name="AutoShape 20"/>
          <p:cNvSpPr txBox="1"/>
          <p:nvPr/>
        </p:nvSpPr>
        <p:spPr>
          <a:xfrm>
            <a:off x="10922000" y="6375400"/>
            <a:ext cx="50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AA1A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4318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AA1A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· RESULTS AND LIVE DEMO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762000"/>
            <a:ext cx="1016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仿真结果与现场演示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466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3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6764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1F3A5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 txBox="1"/>
          <p:nvPr/>
        </p:nvSpPr>
        <p:spPr>
          <a:xfrm>
            <a:off x="965200" y="1676400"/>
            <a:ext cx="4826000" cy="419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050" b="0" i="0" u="none" strike="noStrike">
                <a:solidFill>
                  <a:srgbClr val="96C8A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&gt;</a:t>
            </a:r>
            <a:r>
              <a:rPr lang="en-US" sz="1050" b="0" i="0" u="none" strike="noStrike">
                <a:solidFill>
                  <a:srgbClr val="D6DCE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sim.bat</a:t>
            </a:r>
            <a:endParaRPr lang="en-US" sz="1100"/>
          </a:p>
          <a:p>
            <a:pPr marL="0" indent="0" algn="l">
              <a:lnSpc>
                <a:spcPct val="129000"/>
              </a:lnSpc>
            </a:pPr>
            <a:r>
              <a:rPr lang="en-US" sz="1050" b="0" i="0" u="none" strike="noStrike">
                <a:solidFill>
                  <a:srgbClr val="D6DCE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---- task 1 ----</a:t>
            </a:r>
            <a:endParaRPr lang="en-US" sz="1050" b="0" i="0" u="none" strike="noStrike">
              <a:solidFill>
                <a:srgbClr val="D6DCE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29000"/>
              </a:lnSpc>
            </a:pPr>
            <a:r>
              <a:rPr lang="en-US" sz="1050" b="0" i="0" u="none" strike="noStrike">
                <a:solidFill>
                  <a:srgbClr val="96C8A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[PASS]</a:t>
            </a:r>
            <a:r>
              <a:rPr lang="en-US" sz="1050" b="0" i="0" u="none" strike="noStrike">
                <a:solidFill>
                  <a:srgbClr val="D6DCE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done at cycle 39</a:t>
            </a:r>
            <a:endParaRPr lang="en-US" sz="1050" b="0" i="0" u="none" strike="noStrike">
              <a:solidFill>
                <a:srgbClr val="D6DCE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29000"/>
              </a:lnSpc>
            </a:pPr>
            <a:r>
              <a:rPr lang="en-US" sz="1050" b="0" i="0" u="none" strike="noStrike">
                <a:solidFill>
                  <a:srgbClr val="D6DCE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score = [1,2,3,-1,0,1,0,2]</a:t>
            </a:r>
            <a:endParaRPr lang="en-US" sz="1050" b="0" i="0" u="none" strike="noStrike">
              <a:solidFill>
                <a:srgbClr val="D6DCE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29000"/>
              </a:lnSpc>
            </a:pPr>
            <a:r>
              <a:rPr lang="en-US" sz="1050" b="0" i="0" u="none" strike="noStrike">
                <a:solidFill>
                  <a:srgbClr val="D6DCE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xmax = 3, L = 34</a:t>
            </a:r>
            <a:endParaRPr lang="en-US" sz="1050" b="0" i="0" u="none" strike="noStrike">
              <a:solidFill>
                <a:srgbClr val="D6DCE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29000"/>
              </a:lnSpc>
            </a:pPr>
            <a:r>
              <a:rPr lang="en-US" sz="1050" b="0" i="0" u="none" strike="noStrike">
                <a:solidFill>
                  <a:srgbClr val="D6DCE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ACC = [87,77,33,63]</a:t>
            </a:r>
            <a:endParaRPr lang="en-US" sz="1050" b="0" i="0" u="none" strike="noStrike">
              <a:solidFill>
                <a:srgbClr val="D6DCE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29000"/>
              </a:lnSpc>
            </a:pPr>
            <a:r>
              <a:rPr lang="en-US" sz="1050" b="0" i="0" u="none" strike="noStrike">
                <a:solidFill>
                  <a:srgbClr val="D6DCE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O = [3,2,1,2]</a:t>
            </a:r>
            <a:endParaRPr lang="en-US" sz="1050" b="0" i="0" u="none" strike="noStrike">
              <a:solidFill>
                <a:srgbClr val="D6DCE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29000"/>
              </a:lnSpc>
            </a:pPr>
            <a:r>
              <a:rPr lang="en-US" sz="1050" b="0" i="0" u="none" strike="noStrike">
                <a:solidFill>
                  <a:srgbClr val="D6DCE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---- task 2 ----</a:t>
            </a:r>
            <a:endParaRPr lang="en-US" sz="1050" b="0" i="0" u="none" strike="noStrike">
              <a:solidFill>
                <a:srgbClr val="D6DCE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29000"/>
              </a:lnSpc>
            </a:pPr>
            <a:r>
              <a:rPr lang="en-US" sz="1050" b="0" i="0" u="none" strike="noStrike">
                <a:solidFill>
                  <a:srgbClr val="96C8A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[PASS]</a:t>
            </a:r>
            <a:r>
              <a:rPr lang="en-US" sz="1050" b="0" i="0" u="none" strike="noStrike">
                <a:solidFill>
                  <a:srgbClr val="D6DCE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done at cycle 39</a:t>
            </a:r>
            <a:endParaRPr lang="en-US" sz="1050" b="0" i="0" u="none" strike="noStrike">
              <a:solidFill>
                <a:srgbClr val="D6DCE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29000"/>
              </a:lnSpc>
            </a:pPr>
            <a:r>
              <a:rPr lang="en-US" sz="1050" b="0" i="0" u="none" strike="noStrike">
                <a:solidFill>
                  <a:srgbClr val="96C8A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&gt;</a:t>
            </a:r>
            <a:r>
              <a:rPr lang="en-US" sz="1050" b="0" i="0" u="none" strike="noStrike">
                <a:solidFill>
                  <a:srgbClr val="D6DCE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sim_random.bat</a:t>
            </a:r>
            <a:endParaRPr lang="en-US" sz="1050" b="0" i="0" u="none" strike="noStrike">
              <a:solidFill>
                <a:srgbClr val="D6DCE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29000"/>
              </a:lnSpc>
            </a:pPr>
            <a:r>
              <a:rPr lang="en-US" sz="1050" b="0" i="0" u="none" strike="noStrike">
                <a:solidFill>
                  <a:srgbClr val="E6C882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RANDOM TEST PASS : 100/100</a:t>
            </a:r>
            <a:endParaRPr lang="en-US" sz="1050" b="0" i="0" u="none" strike="noStrike">
              <a:solidFill>
                <a:srgbClr val="E6C882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6223000" y="1676400"/>
            <a:ext cx="520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现场演示（支持评委随机换输入）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6223000" y="21590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6731000" y="2159000"/>
            <a:ext cx="4699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跑 sim.bat</a:t>
            </a:r>
            <a:r>
              <a:rPr lang="en-US" sz="1200" b="0" i="0" u="none" strike="noStrike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：编译无错，done 于 cycle 39 准时拉高，内部数值与手算一致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6223000" y="32766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6731000" y="3276600"/>
            <a:ext cx="4699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跑 wave.bat</a:t>
            </a:r>
            <a:r>
              <a:rPr lang="en-US" sz="1200" b="0" i="0" u="none" strike="noStrike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：看 state 沿三阶段跳转，out_valid 持续 4 拍，done 仅 1 拍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6223000" y="43942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6731000" y="4394200"/>
            <a:ext cx="4699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现场换输入</a:t>
            </a:r>
            <a:r>
              <a:rPr lang="en-US" sz="1200" b="0" i="0" u="none" strike="noStrike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：改种子重跑 sim_random.bat，100 组仍全部 PASS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8384">
            <a:off x="6223008" y="53784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3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 txBox="1"/>
          <p:nvPr/>
        </p:nvSpPr>
        <p:spPr>
          <a:xfrm>
            <a:off x="6223000" y="54864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固定 + 随机激励结果均与 golden 模型一致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4092">
            <a:off x="762004" y="6267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3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 txBox="1"/>
          <p:nvPr/>
        </p:nvSpPr>
        <p:spPr>
          <a:xfrm>
            <a:off x="762000" y="63754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AA1A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Attention 加速器 IP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10922000" y="6375400"/>
            <a:ext cx="50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AA1A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</a:t>
            </a:r>
            <a:endParaRPr lang="en-US" sz="110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524000" y="7112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892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09 · 进行时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498600" y="1016000"/>
            <a:ext cx="914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现在进行时 · 收获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774">
            <a:off x="1524004" y="1746250"/>
            <a:ext cx="914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524000" y="2032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B892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还在学的附加内容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524000" y="24892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892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2006600" y="2463800"/>
            <a:ext cx="355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41C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分段线性 LUT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2006600" y="27432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7B87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用更细的折线逼近指数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524000" y="31496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892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2006600" y="3124200"/>
            <a:ext cx="355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41C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因果 Mask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2006600" y="3403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7B87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让模型只看前面的 token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524000" y="38100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892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2006600" y="3784600"/>
            <a:ext cx="355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41C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参数化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2006600" y="40640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7B87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S、d 可配置，规模可扩展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6604000" y="2032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B892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三点收获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6604000" y="2463800"/>
            <a:ext cx="406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41C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硬件思维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6604000" y="2743200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7B87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时钟、寄存器、非阻塞、节拍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6604000" y="3124200"/>
            <a:ext cx="406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41C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定点思维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6604000" y="3403600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7B87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位宽、精度、面积的取舍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6604000" y="3784600"/>
            <a:ext cx="406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41C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学习方法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6604000" y="4064000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7B87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能讲清楚，才算真懂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524000" y="4572000"/>
            <a:ext cx="9144000" cy="1219200"/>
          </a:xfrm>
          <a:prstGeom prst="roundRect">
            <a:avLst>
              <a:gd name="adj" fmla="val 0"/>
            </a:avLst>
          </a:prstGeom>
          <a:solidFill>
            <a:srgbClr val="1F3A5F">
              <a:alpha val="100000"/>
            </a:srgbClr>
          </a:solidFill>
          <a:ln w="12700" cap="flat" cmpd="sng">
            <a:solidFill>
              <a:srgbClr val="1F3A5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 txBox="1"/>
          <p:nvPr/>
        </p:nvSpPr>
        <p:spPr>
          <a:xfrm>
            <a:off x="1778000" y="4800600"/>
            <a:ext cx="863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谢谢大家，欢迎指正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4774">
            <a:off x="1524004" y="6292850"/>
            <a:ext cx="914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E2E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 txBox="1"/>
          <p:nvPr/>
        </p:nvSpPr>
        <p:spPr>
          <a:xfrm>
            <a:off x="1524000" y="64008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8890000" y="6400800"/>
            <a:ext cx="177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B87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 / 10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utoShape 2"/>
          <p:cNvSpPr txBox="1"/>
          <p:nvPr/>
        </p:nvSpPr>
        <p:spPr>
          <a:xfrm>
            <a:off x="762000" y="4318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AA1A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 · CONCLUSION AND OUTLOOK</a:t>
            </a:r>
            <a:endParaRPr lang="en-US" sz="1100"/>
          </a:p>
        </p:txBody>
      </p:sp>
      <p:sp>
        <p:nvSpPr>
          <p:cNvPr id="21" name="AutoShape 3"/>
          <p:cNvSpPr txBox="1"/>
          <p:nvPr/>
        </p:nvSpPr>
        <p:spPr>
          <a:xfrm>
            <a:off x="762000" y="762000"/>
            <a:ext cx="1016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cxnSp>
        <p:nvCxnSpPr>
          <p:cNvPr id="22" name="Connector 4"/>
          <p:cNvCxnSpPr/>
          <p:nvPr/>
        </p:nvCxnSpPr>
        <p:spPr>
          <a:xfrm rot="-4092">
            <a:off x="762004" y="1466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3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5"/>
          <p:cNvSpPr txBox="1"/>
          <p:nvPr/>
        </p:nvSpPr>
        <p:spPr>
          <a:xfrm>
            <a:off x="762000" y="1752600"/>
            <a:ext cx="76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24" name="AutoShape 6"/>
          <p:cNvSpPr txBox="1"/>
          <p:nvPr/>
        </p:nvSpPr>
        <p:spPr>
          <a:xfrm>
            <a:off x="762000" y="22352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已完成</a:t>
            </a:r>
            <a:endParaRPr lang="en-US" sz="1100"/>
          </a:p>
        </p:txBody>
      </p:sp>
      <p:sp>
        <p:nvSpPr>
          <p:cNvPr id="25" name="AutoShape 7"/>
          <p:cNvSpPr txBox="1"/>
          <p:nvPr/>
        </p:nvSpPr>
        <p:spPr>
          <a:xfrm>
            <a:off x="762000" y="2641600"/>
            <a:ext cx="3175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0" i="0" u="none" strike="noStrike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数值稳定 softmax（xmax + 定点 LUT）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 状态 FSM + 握手反压</a:t>
            </a:r>
            <a:endParaRPr lang="en-US" sz="1200" b="0" i="0" u="none" strike="noStrike">
              <a:solidFill>
                <a:srgbClr val="373E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冒烟 / 随机 100 组全部通过</a:t>
            </a:r>
            <a:endParaRPr lang="en-US" sz="1200" b="0" i="0" u="none" strike="noStrike">
              <a:solidFill>
                <a:srgbClr val="373E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6" name="Connector 8"/>
          <p:cNvCxnSpPr/>
          <p:nvPr/>
        </p:nvCxnSpPr>
        <p:spPr>
          <a:xfrm rot="5384514">
            <a:off x="2844800" y="3155964"/>
            <a:ext cx="281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3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9"/>
          <p:cNvSpPr txBox="1"/>
          <p:nvPr/>
        </p:nvSpPr>
        <p:spPr>
          <a:xfrm>
            <a:off x="4445000" y="1752600"/>
            <a:ext cx="76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28" name="AutoShape 10"/>
          <p:cNvSpPr txBox="1"/>
          <p:nvPr/>
        </p:nvSpPr>
        <p:spPr>
          <a:xfrm>
            <a:off x="4445000" y="22352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</a:t>
            </a:r>
            <a:endParaRPr lang="en-US" sz="1100"/>
          </a:p>
        </p:txBody>
      </p:sp>
      <p:sp>
        <p:nvSpPr>
          <p:cNvPr id="29" name="AutoShape 11"/>
          <p:cNvSpPr txBox="1"/>
          <p:nvPr/>
        </p:nvSpPr>
        <p:spPr>
          <a:xfrm>
            <a:off x="4445000" y="2641600"/>
            <a:ext cx="3175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0" i="0" u="none" strike="noStrike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计算阶段 39 拍，全流程约 75 拍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 MHz 下约 0.75 μs</a:t>
            </a:r>
            <a:endParaRPr lang="en-US" sz="1200" b="0" i="0" u="none" strike="noStrike">
              <a:solidFill>
                <a:srgbClr val="373E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 路并行点积，优于串行 99 拍</a:t>
            </a:r>
            <a:endParaRPr lang="en-US" sz="1200" b="0" i="0" u="none" strike="noStrike">
              <a:solidFill>
                <a:srgbClr val="373E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0" name="Connector 12"/>
          <p:cNvCxnSpPr/>
          <p:nvPr/>
        </p:nvCxnSpPr>
        <p:spPr>
          <a:xfrm rot="5384514">
            <a:off x="6527800" y="3155964"/>
            <a:ext cx="281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3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13"/>
          <p:cNvSpPr txBox="1"/>
          <p:nvPr/>
        </p:nvSpPr>
        <p:spPr>
          <a:xfrm>
            <a:off x="8128000" y="1752600"/>
            <a:ext cx="76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32" name="AutoShape 14"/>
          <p:cNvSpPr txBox="1"/>
          <p:nvPr/>
        </p:nvSpPr>
        <p:spPr>
          <a:xfrm>
            <a:off x="8128000" y="22352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展望</a:t>
            </a:r>
            <a:endParaRPr lang="en-US" sz="1100"/>
          </a:p>
        </p:txBody>
      </p:sp>
      <p:sp>
        <p:nvSpPr>
          <p:cNvPr id="33" name="AutoShape 15"/>
          <p:cNvSpPr txBox="1"/>
          <p:nvPr/>
        </p:nvSpPr>
        <p:spPr>
          <a:xfrm>
            <a:off x="8128000" y="2641600"/>
            <a:ext cx="3175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0" i="0" u="none" strike="noStrike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流水线化 / 参数化 / 因果 Mask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稀疏筛选、更精细 LUT</a:t>
            </a:r>
            <a:endParaRPr lang="en-US" sz="1200" b="0" i="0" u="none" strike="noStrike">
              <a:solidFill>
                <a:srgbClr val="373E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扩展到更大规模 [256, 64]</a:t>
            </a:r>
            <a:endParaRPr lang="en-US" sz="1200" b="0" i="0" u="none" strike="noStrike">
              <a:solidFill>
                <a:srgbClr val="373E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4" name="Connector 16"/>
          <p:cNvCxnSpPr/>
          <p:nvPr/>
        </p:nvCxnSpPr>
        <p:spPr>
          <a:xfrm rot="-4092">
            <a:off x="762004" y="4870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3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AutoShape 17"/>
          <p:cNvSpPr txBox="1"/>
          <p:nvPr/>
        </p:nvSpPr>
        <p:spPr>
          <a:xfrm>
            <a:off x="762000" y="5080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谢谢！请各位评委批评指正</a:t>
            </a:r>
            <a:endParaRPr lang="en-US" sz="1100"/>
          </a:p>
        </p:txBody>
      </p:sp>
      <p:cxnSp>
        <p:nvCxnSpPr>
          <p:cNvPr id="36" name="Connector 18"/>
          <p:cNvCxnSpPr/>
          <p:nvPr/>
        </p:nvCxnSpPr>
        <p:spPr>
          <a:xfrm rot="-4092">
            <a:off x="762004" y="6267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3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AutoShape 19"/>
          <p:cNvSpPr txBox="1"/>
          <p:nvPr/>
        </p:nvSpPr>
        <p:spPr>
          <a:xfrm>
            <a:off x="762000" y="63754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AA1A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Attention 加速器 IP</a:t>
            </a:r>
            <a:endParaRPr lang="en-US" sz="1100"/>
          </a:p>
        </p:txBody>
      </p:sp>
      <p:sp>
        <p:nvSpPr>
          <p:cNvPr id="38" name="AutoShape 20"/>
          <p:cNvSpPr txBox="1"/>
          <p:nvPr/>
        </p:nvSpPr>
        <p:spPr>
          <a:xfrm>
            <a:off x="10922000" y="6375400"/>
            <a:ext cx="50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AA1A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762000" y="4318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>
                <a:solidFill>
                  <a:srgbClr val="9AA1AB"/>
                </a:solidFill>
                <a:latin typeface="Noto Sans SC" panose="020B0200000000000000" charset="-122"/>
                <a:ea typeface="Noto Sans SC" panose="020B0200000000000000" charset="-122"/>
              </a:rPr>
              <a:t>10 · BONUS</a:t>
            </a:r>
            <a:endParaRPr lang="zh-CN" sz="1000">
              <a:solidFill>
                <a:srgbClr val="9AA1AB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62000" y="762000"/>
            <a:ext cx="10668000" cy="584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600">
                <a:solidFill>
                  <a:srgbClr val="1F3A5F"/>
                </a:solidFill>
                <a:latin typeface="Noto Sans SC" panose="020B0200000000000000" charset="-122"/>
                <a:ea typeface="Noto Sans SC" panose="020B0200000000000000" charset="-122"/>
              </a:rPr>
              <a:t>加分项与扩展</a:t>
            </a:r>
            <a:endParaRPr lang="zh-CN" sz="2600">
              <a:solidFill>
                <a:srgbClr val="1F3A5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62000" y="1524000"/>
            <a:ext cx="10668000" cy="457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500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</a:rPr>
              <a:t>• 周期优化：合并 EXP/UPDATE，计算阶段省 8 拍</a:t>
            </a:r>
            <a:endParaRPr lang="zh-CN" sz="1500">
              <a:solidFill>
                <a:srgbClr val="373E48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sz="1500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</a:rPr>
              <a:t>• 精度优化：16 段 PWL 替代基础 LUT</a:t>
            </a:r>
            <a:endParaRPr lang="zh-CN" sz="1500">
              <a:solidFill>
                <a:srgbClr val="373E48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sz="1500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</a:rPr>
              <a:t>• 算法优化：Online Softmax，一遍扫描完成 max + sum</a:t>
            </a:r>
            <a:endParaRPr lang="zh-CN" sz="1500">
              <a:solidFill>
                <a:srgbClr val="373E48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sz="1500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</a:rPr>
              <a:t>• 功能扩展：Causal Mask、参数化 S、稀疏筛选</a:t>
            </a:r>
            <a:endParaRPr lang="zh-CN" sz="1500">
              <a:solidFill>
                <a:srgbClr val="373E48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sz="1500">
                <a:solidFill>
                  <a:srgbClr val="373E48"/>
                </a:solidFill>
                <a:latin typeface="Noto Sans SC" panose="020B0200000000000000" charset="-122"/>
                <a:ea typeface="Noto Sans SC" panose="020B0200000000000000" charset="-122"/>
              </a:rPr>
              <a:t>• 每个加分项均有独立 testbench 验证</a:t>
            </a:r>
            <a:endParaRPr lang="zh-CN" sz="1500">
              <a:solidFill>
                <a:srgbClr val="373E48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3747</Words>
  <Application>WPS 演示</Application>
  <PresentationFormat/>
  <Paragraphs>610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宋体</vt:lpstr>
      <vt:lpstr>Wingdings</vt:lpstr>
      <vt:lpstr>Arial</vt:lpstr>
      <vt:lpstr>Noto Sans SC</vt:lpstr>
      <vt:lpstr>Consolas</vt:lpstr>
      <vt:lpstr>微软雅黑</vt:lpstr>
      <vt:lpstr>Arial Unicode MS</vt:lpstr>
      <vt:lpstr>Consolas</vt:lpstr>
      <vt:lpstr>Roboto Mono</vt:lpstr>
      <vt:lpstr>FFont-Family</vt:lpstr>
      <vt:lpstr>Roboto Mono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WPS_1753785378</cp:lastModifiedBy>
  <cp:revision>3</cp:revision>
  <dcterms:created xsi:type="dcterms:W3CDTF">2026-10-12T09:54:30Z</dcterms:created>
  <dcterms:modified xsi:type="dcterms:W3CDTF">2026-10-12T10:01:42Z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749C48BC73F3439DB1C4B8E5F06E41AA_12</vt:lpwstr>
  </property>
  <property fmtid="{D5CDD505-2E9C-101B-9397-08002B2CF9AE}" pid="3" name="KSOProductBuildVer">
    <vt:lpwstr>2052-12.1.0.28505</vt:lpwstr>
  </property>
</Properties>
</file>